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7" r:id="rId2"/>
    <p:sldId id="260" r:id="rId3"/>
    <p:sldId id="256" r:id="rId4"/>
    <p:sldId id="259" r:id="rId5"/>
    <p:sldId id="258" r:id="rId6"/>
    <p:sldId id="262" r:id="rId7"/>
    <p:sldId id="264" r:id="rId8"/>
    <p:sldId id="263" r:id="rId9"/>
    <p:sldId id="265" r:id="rId10"/>
    <p:sldId id="266" r:id="rId11"/>
    <p:sldId id="268"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6301"/>
  </p:normalViewPr>
  <p:slideViewPr>
    <p:cSldViewPr snapToGrid="0">
      <p:cViewPr varScale="1">
        <p:scale>
          <a:sx n="123" d="100"/>
          <a:sy n="123" d="100"/>
        </p:scale>
        <p:origin x="600"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FE7E8-1413-B32B-7996-654BCD6BFB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C7339A2-E77A-6510-BB12-E7AD648348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5C104E5-B333-41BF-814B-8447B303DC1F}"/>
              </a:ext>
            </a:extLst>
          </p:cNvPr>
          <p:cNvSpPr>
            <a:spLocks noGrp="1"/>
          </p:cNvSpPr>
          <p:nvPr>
            <p:ph type="dt" sz="half" idx="10"/>
          </p:nvPr>
        </p:nvSpPr>
        <p:spPr/>
        <p:txBody>
          <a:bodyPr/>
          <a:lstStyle/>
          <a:p>
            <a:fld id="{0266D8D7-1006-9340-8393-585DE1E9BC7B}" type="datetimeFigureOut">
              <a:rPr lang="en-US" smtClean="0"/>
              <a:t>8/12/26</a:t>
            </a:fld>
            <a:endParaRPr lang="en-US"/>
          </a:p>
        </p:txBody>
      </p:sp>
      <p:sp>
        <p:nvSpPr>
          <p:cNvPr id="5" name="Footer Placeholder 4">
            <a:extLst>
              <a:ext uri="{FF2B5EF4-FFF2-40B4-BE49-F238E27FC236}">
                <a16:creationId xmlns:a16="http://schemas.microsoft.com/office/drawing/2014/main" id="{5D16A635-A537-E230-8D74-924E736B1B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DBC13A-0BB8-4C63-D1FC-A1C4B22C60C3}"/>
              </a:ext>
            </a:extLst>
          </p:cNvPr>
          <p:cNvSpPr>
            <a:spLocks noGrp="1"/>
          </p:cNvSpPr>
          <p:nvPr>
            <p:ph type="sldNum" sz="quarter" idx="12"/>
          </p:nvPr>
        </p:nvSpPr>
        <p:spPr/>
        <p:txBody>
          <a:bodyPr/>
          <a:lstStyle/>
          <a:p>
            <a:fld id="{0B4287E0-D167-634B-9EC8-AA60DB67283B}" type="slidenum">
              <a:rPr lang="en-US" smtClean="0"/>
              <a:t>‹#›</a:t>
            </a:fld>
            <a:endParaRPr lang="en-US"/>
          </a:p>
        </p:txBody>
      </p:sp>
    </p:spTree>
    <p:extLst>
      <p:ext uri="{BB962C8B-B14F-4D97-AF65-F5344CB8AC3E}">
        <p14:creationId xmlns:p14="http://schemas.microsoft.com/office/powerpoint/2010/main" val="37188856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E259C-1152-767B-699A-C84B0503938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F8562F-00B9-2209-7635-CB22C7B86A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541FDB-C139-B5AD-2712-3E37FBD82DCC}"/>
              </a:ext>
            </a:extLst>
          </p:cNvPr>
          <p:cNvSpPr>
            <a:spLocks noGrp="1"/>
          </p:cNvSpPr>
          <p:nvPr>
            <p:ph type="dt" sz="half" idx="10"/>
          </p:nvPr>
        </p:nvSpPr>
        <p:spPr/>
        <p:txBody>
          <a:bodyPr/>
          <a:lstStyle/>
          <a:p>
            <a:fld id="{0266D8D7-1006-9340-8393-585DE1E9BC7B}" type="datetimeFigureOut">
              <a:rPr lang="en-US" smtClean="0"/>
              <a:t>8/12/26</a:t>
            </a:fld>
            <a:endParaRPr lang="en-US"/>
          </a:p>
        </p:txBody>
      </p:sp>
      <p:sp>
        <p:nvSpPr>
          <p:cNvPr id="5" name="Footer Placeholder 4">
            <a:extLst>
              <a:ext uri="{FF2B5EF4-FFF2-40B4-BE49-F238E27FC236}">
                <a16:creationId xmlns:a16="http://schemas.microsoft.com/office/drawing/2014/main" id="{218E848B-B5CC-5387-5795-EF83727472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0ABC92-33AA-6D15-4EB4-09C67661CB60}"/>
              </a:ext>
            </a:extLst>
          </p:cNvPr>
          <p:cNvSpPr>
            <a:spLocks noGrp="1"/>
          </p:cNvSpPr>
          <p:nvPr>
            <p:ph type="sldNum" sz="quarter" idx="12"/>
          </p:nvPr>
        </p:nvSpPr>
        <p:spPr/>
        <p:txBody>
          <a:bodyPr/>
          <a:lstStyle/>
          <a:p>
            <a:fld id="{0B4287E0-D167-634B-9EC8-AA60DB67283B}" type="slidenum">
              <a:rPr lang="en-US" smtClean="0"/>
              <a:t>‹#›</a:t>
            </a:fld>
            <a:endParaRPr lang="en-US"/>
          </a:p>
        </p:txBody>
      </p:sp>
    </p:spTree>
    <p:extLst>
      <p:ext uri="{BB962C8B-B14F-4D97-AF65-F5344CB8AC3E}">
        <p14:creationId xmlns:p14="http://schemas.microsoft.com/office/powerpoint/2010/main" val="22147955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DE433-B75C-CAEC-E7E1-EC359C3A6B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7BD777A-8BBA-0200-7ECA-0B077A6D23C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74EDAE-5F9E-0DC2-A1F0-E54094F173A2}"/>
              </a:ext>
            </a:extLst>
          </p:cNvPr>
          <p:cNvSpPr>
            <a:spLocks noGrp="1"/>
          </p:cNvSpPr>
          <p:nvPr>
            <p:ph type="dt" sz="half" idx="10"/>
          </p:nvPr>
        </p:nvSpPr>
        <p:spPr/>
        <p:txBody>
          <a:bodyPr/>
          <a:lstStyle/>
          <a:p>
            <a:fld id="{0266D8D7-1006-9340-8393-585DE1E9BC7B}" type="datetimeFigureOut">
              <a:rPr lang="en-US" smtClean="0"/>
              <a:t>8/12/26</a:t>
            </a:fld>
            <a:endParaRPr lang="en-US"/>
          </a:p>
        </p:txBody>
      </p:sp>
      <p:sp>
        <p:nvSpPr>
          <p:cNvPr id="5" name="Footer Placeholder 4">
            <a:extLst>
              <a:ext uri="{FF2B5EF4-FFF2-40B4-BE49-F238E27FC236}">
                <a16:creationId xmlns:a16="http://schemas.microsoft.com/office/drawing/2014/main" id="{AB3757DF-D5E7-9119-7C9E-4006AF1EC2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560635-5B9E-0129-AE48-2E0AFA0BCA8A}"/>
              </a:ext>
            </a:extLst>
          </p:cNvPr>
          <p:cNvSpPr>
            <a:spLocks noGrp="1"/>
          </p:cNvSpPr>
          <p:nvPr>
            <p:ph type="sldNum" sz="quarter" idx="12"/>
          </p:nvPr>
        </p:nvSpPr>
        <p:spPr/>
        <p:txBody>
          <a:bodyPr/>
          <a:lstStyle/>
          <a:p>
            <a:fld id="{0B4287E0-D167-634B-9EC8-AA60DB67283B}" type="slidenum">
              <a:rPr lang="en-US" smtClean="0"/>
              <a:t>‹#›</a:t>
            </a:fld>
            <a:endParaRPr lang="en-US"/>
          </a:p>
        </p:txBody>
      </p:sp>
    </p:spTree>
    <p:extLst>
      <p:ext uri="{BB962C8B-B14F-4D97-AF65-F5344CB8AC3E}">
        <p14:creationId xmlns:p14="http://schemas.microsoft.com/office/powerpoint/2010/main" val="2997819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46998-820F-AFE3-6613-5B34B85B7F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3040FB-BFBC-C483-9520-2EBF2E1793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52D27E-D6DF-3F22-EB6B-AC52E7F8B78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95BB2F-BDA3-7D8C-32C5-CB75938AD71E}"/>
              </a:ext>
            </a:extLst>
          </p:cNvPr>
          <p:cNvSpPr>
            <a:spLocks noGrp="1"/>
          </p:cNvSpPr>
          <p:nvPr>
            <p:ph type="dt" sz="half" idx="10"/>
          </p:nvPr>
        </p:nvSpPr>
        <p:spPr/>
        <p:txBody>
          <a:bodyPr/>
          <a:lstStyle/>
          <a:p>
            <a:fld id="{0266D8D7-1006-9340-8393-585DE1E9BC7B}" type="datetimeFigureOut">
              <a:rPr lang="en-US" smtClean="0"/>
              <a:t>8/12/26</a:t>
            </a:fld>
            <a:endParaRPr lang="en-US"/>
          </a:p>
        </p:txBody>
      </p:sp>
      <p:sp>
        <p:nvSpPr>
          <p:cNvPr id="6" name="Footer Placeholder 5">
            <a:extLst>
              <a:ext uri="{FF2B5EF4-FFF2-40B4-BE49-F238E27FC236}">
                <a16:creationId xmlns:a16="http://schemas.microsoft.com/office/drawing/2014/main" id="{E2159C8F-FC23-740A-505F-C2848734D9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24C7A-94ED-EDDC-B5E7-8A0FD534EE8C}"/>
              </a:ext>
            </a:extLst>
          </p:cNvPr>
          <p:cNvSpPr>
            <a:spLocks noGrp="1"/>
          </p:cNvSpPr>
          <p:nvPr>
            <p:ph type="sldNum" sz="quarter" idx="12"/>
          </p:nvPr>
        </p:nvSpPr>
        <p:spPr/>
        <p:txBody>
          <a:bodyPr/>
          <a:lstStyle/>
          <a:p>
            <a:fld id="{0B4287E0-D167-634B-9EC8-AA60DB67283B}" type="slidenum">
              <a:rPr lang="en-US" smtClean="0"/>
              <a:t>‹#›</a:t>
            </a:fld>
            <a:endParaRPr lang="en-US"/>
          </a:p>
        </p:txBody>
      </p:sp>
    </p:spTree>
    <p:extLst>
      <p:ext uri="{BB962C8B-B14F-4D97-AF65-F5344CB8AC3E}">
        <p14:creationId xmlns:p14="http://schemas.microsoft.com/office/powerpoint/2010/main" val="3633466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24F39-ED6D-276A-DEC6-8E609A1D71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19ACF8-612A-0F05-6428-830ED1742C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F4CBBFF-0A20-E0AB-EB69-8004AC6929B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E6F8DC-B49A-AF00-E9BD-8D56E54498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391657E-259E-6EB8-E64D-1F68BDD46B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D51AC73-4FD3-A126-AA9A-1A7B5925B1DB}"/>
              </a:ext>
            </a:extLst>
          </p:cNvPr>
          <p:cNvSpPr>
            <a:spLocks noGrp="1"/>
          </p:cNvSpPr>
          <p:nvPr>
            <p:ph type="dt" sz="half" idx="10"/>
          </p:nvPr>
        </p:nvSpPr>
        <p:spPr/>
        <p:txBody>
          <a:bodyPr/>
          <a:lstStyle/>
          <a:p>
            <a:fld id="{0266D8D7-1006-9340-8393-585DE1E9BC7B}" type="datetimeFigureOut">
              <a:rPr lang="en-US" smtClean="0"/>
              <a:t>8/12/26</a:t>
            </a:fld>
            <a:endParaRPr lang="en-US"/>
          </a:p>
        </p:txBody>
      </p:sp>
      <p:sp>
        <p:nvSpPr>
          <p:cNvPr id="8" name="Footer Placeholder 7">
            <a:extLst>
              <a:ext uri="{FF2B5EF4-FFF2-40B4-BE49-F238E27FC236}">
                <a16:creationId xmlns:a16="http://schemas.microsoft.com/office/drawing/2014/main" id="{40329C82-6B6F-166C-170E-527425E51C6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0E5B4D6-0C80-8826-EAD0-2685A64DBFC8}"/>
              </a:ext>
            </a:extLst>
          </p:cNvPr>
          <p:cNvSpPr>
            <a:spLocks noGrp="1"/>
          </p:cNvSpPr>
          <p:nvPr>
            <p:ph type="sldNum" sz="quarter" idx="12"/>
          </p:nvPr>
        </p:nvSpPr>
        <p:spPr/>
        <p:txBody>
          <a:bodyPr/>
          <a:lstStyle/>
          <a:p>
            <a:fld id="{0B4287E0-D167-634B-9EC8-AA60DB67283B}" type="slidenum">
              <a:rPr lang="en-US" smtClean="0"/>
              <a:t>‹#›</a:t>
            </a:fld>
            <a:endParaRPr lang="en-US"/>
          </a:p>
        </p:txBody>
      </p:sp>
    </p:spTree>
    <p:extLst>
      <p:ext uri="{BB962C8B-B14F-4D97-AF65-F5344CB8AC3E}">
        <p14:creationId xmlns:p14="http://schemas.microsoft.com/office/powerpoint/2010/main" val="36273433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665A5-171A-F3BA-F50C-DF88C24B321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93E889E-0149-C98D-C7A9-FE52CDAF6FD7}"/>
              </a:ext>
            </a:extLst>
          </p:cNvPr>
          <p:cNvSpPr>
            <a:spLocks noGrp="1"/>
          </p:cNvSpPr>
          <p:nvPr>
            <p:ph type="dt" sz="half" idx="10"/>
          </p:nvPr>
        </p:nvSpPr>
        <p:spPr/>
        <p:txBody>
          <a:bodyPr/>
          <a:lstStyle/>
          <a:p>
            <a:fld id="{0266D8D7-1006-9340-8393-585DE1E9BC7B}" type="datetimeFigureOut">
              <a:rPr lang="en-US" smtClean="0"/>
              <a:t>8/12/26</a:t>
            </a:fld>
            <a:endParaRPr lang="en-US"/>
          </a:p>
        </p:txBody>
      </p:sp>
      <p:sp>
        <p:nvSpPr>
          <p:cNvPr id="4" name="Footer Placeholder 3">
            <a:extLst>
              <a:ext uri="{FF2B5EF4-FFF2-40B4-BE49-F238E27FC236}">
                <a16:creationId xmlns:a16="http://schemas.microsoft.com/office/drawing/2014/main" id="{73174BFF-39C2-2AB4-B22D-95D4937A5FE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B02FF65-CE8D-83E7-6597-D1BBB25A3F28}"/>
              </a:ext>
            </a:extLst>
          </p:cNvPr>
          <p:cNvSpPr>
            <a:spLocks noGrp="1"/>
          </p:cNvSpPr>
          <p:nvPr>
            <p:ph type="sldNum" sz="quarter" idx="12"/>
          </p:nvPr>
        </p:nvSpPr>
        <p:spPr/>
        <p:txBody>
          <a:bodyPr/>
          <a:lstStyle/>
          <a:p>
            <a:fld id="{0B4287E0-D167-634B-9EC8-AA60DB67283B}" type="slidenum">
              <a:rPr lang="en-US" smtClean="0"/>
              <a:t>‹#›</a:t>
            </a:fld>
            <a:endParaRPr lang="en-US"/>
          </a:p>
        </p:txBody>
      </p:sp>
    </p:spTree>
    <p:extLst>
      <p:ext uri="{BB962C8B-B14F-4D97-AF65-F5344CB8AC3E}">
        <p14:creationId xmlns:p14="http://schemas.microsoft.com/office/powerpoint/2010/main" val="1621867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58940D-C847-8041-AFC4-86F4AB633FC4}"/>
              </a:ext>
            </a:extLst>
          </p:cNvPr>
          <p:cNvSpPr>
            <a:spLocks noGrp="1"/>
          </p:cNvSpPr>
          <p:nvPr>
            <p:ph type="dt" sz="half" idx="10"/>
          </p:nvPr>
        </p:nvSpPr>
        <p:spPr/>
        <p:txBody>
          <a:bodyPr/>
          <a:lstStyle/>
          <a:p>
            <a:fld id="{0266D8D7-1006-9340-8393-585DE1E9BC7B}" type="datetimeFigureOut">
              <a:rPr lang="en-US" smtClean="0"/>
              <a:t>8/12/26</a:t>
            </a:fld>
            <a:endParaRPr lang="en-US"/>
          </a:p>
        </p:txBody>
      </p:sp>
      <p:sp>
        <p:nvSpPr>
          <p:cNvPr id="3" name="Footer Placeholder 2">
            <a:extLst>
              <a:ext uri="{FF2B5EF4-FFF2-40B4-BE49-F238E27FC236}">
                <a16:creationId xmlns:a16="http://schemas.microsoft.com/office/drawing/2014/main" id="{86F993C5-E647-DAF4-6033-98C7BAFE677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B8DC35E-D628-E24C-F68F-E240A13BB4E0}"/>
              </a:ext>
            </a:extLst>
          </p:cNvPr>
          <p:cNvSpPr>
            <a:spLocks noGrp="1"/>
          </p:cNvSpPr>
          <p:nvPr>
            <p:ph type="sldNum" sz="quarter" idx="12"/>
          </p:nvPr>
        </p:nvSpPr>
        <p:spPr/>
        <p:txBody>
          <a:bodyPr/>
          <a:lstStyle/>
          <a:p>
            <a:fld id="{0B4287E0-D167-634B-9EC8-AA60DB67283B}" type="slidenum">
              <a:rPr lang="en-US" smtClean="0"/>
              <a:t>‹#›</a:t>
            </a:fld>
            <a:endParaRPr lang="en-US"/>
          </a:p>
        </p:txBody>
      </p:sp>
    </p:spTree>
    <p:extLst>
      <p:ext uri="{BB962C8B-B14F-4D97-AF65-F5344CB8AC3E}">
        <p14:creationId xmlns:p14="http://schemas.microsoft.com/office/powerpoint/2010/main" val="3112425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83FD4-4075-C2E9-0A71-A69BFAEDA4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61102CA-232C-C231-376A-7D1ACED89E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AA61A9-06D4-D374-2740-9D7033D54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17A4BD-D9F2-FFD9-D699-39F9F94639EC}"/>
              </a:ext>
            </a:extLst>
          </p:cNvPr>
          <p:cNvSpPr>
            <a:spLocks noGrp="1"/>
          </p:cNvSpPr>
          <p:nvPr>
            <p:ph type="dt" sz="half" idx="10"/>
          </p:nvPr>
        </p:nvSpPr>
        <p:spPr/>
        <p:txBody>
          <a:bodyPr/>
          <a:lstStyle/>
          <a:p>
            <a:fld id="{0266D8D7-1006-9340-8393-585DE1E9BC7B}" type="datetimeFigureOut">
              <a:rPr lang="en-US" smtClean="0"/>
              <a:t>8/12/26</a:t>
            </a:fld>
            <a:endParaRPr lang="en-US"/>
          </a:p>
        </p:txBody>
      </p:sp>
      <p:sp>
        <p:nvSpPr>
          <p:cNvPr id="6" name="Footer Placeholder 5">
            <a:extLst>
              <a:ext uri="{FF2B5EF4-FFF2-40B4-BE49-F238E27FC236}">
                <a16:creationId xmlns:a16="http://schemas.microsoft.com/office/drawing/2014/main" id="{B92F1B8F-5810-E1D6-984E-5320BD6981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68DEC1-12B0-2292-5DF3-BBC69F6DA3A2}"/>
              </a:ext>
            </a:extLst>
          </p:cNvPr>
          <p:cNvSpPr>
            <a:spLocks noGrp="1"/>
          </p:cNvSpPr>
          <p:nvPr>
            <p:ph type="sldNum" sz="quarter" idx="12"/>
          </p:nvPr>
        </p:nvSpPr>
        <p:spPr/>
        <p:txBody>
          <a:bodyPr/>
          <a:lstStyle/>
          <a:p>
            <a:fld id="{0B4287E0-D167-634B-9EC8-AA60DB67283B}" type="slidenum">
              <a:rPr lang="en-US" smtClean="0"/>
              <a:t>‹#›</a:t>
            </a:fld>
            <a:endParaRPr lang="en-US"/>
          </a:p>
        </p:txBody>
      </p:sp>
    </p:spTree>
    <p:extLst>
      <p:ext uri="{BB962C8B-B14F-4D97-AF65-F5344CB8AC3E}">
        <p14:creationId xmlns:p14="http://schemas.microsoft.com/office/powerpoint/2010/main" val="2495916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F5615-97D4-AAB2-F2AA-7B5B031412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BCBD43A-0889-0C10-CFB7-DB803B85F6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7F8B58-9C87-A70A-F9B1-7466493CAE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B3BD45-EEF5-13C7-3A6D-8BB9D926A2DD}"/>
              </a:ext>
            </a:extLst>
          </p:cNvPr>
          <p:cNvSpPr>
            <a:spLocks noGrp="1"/>
          </p:cNvSpPr>
          <p:nvPr>
            <p:ph type="dt" sz="half" idx="10"/>
          </p:nvPr>
        </p:nvSpPr>
        <p:spPr/>
        <p:txBody>
          <a:bodyPr/>
          <a:lstStyle/>
          <a:p>
            <a:fld id="{0266D8D7-1006-9340-8393-585DE1E9BC7B}" type="datetimeFigureOut">
              <a:rPr lang="en-US" smtClean="0"/>
              <a:t>8/12/26</a:t>
            </a:fld>
            <a:endParaRPr lang="en-US"/>
          </a:p>
        </p:txBody>
      </p:sp>
      <p:sp>
        <p:nvSpPr>
          <p:cNvPr id="6" name="Footer Placeholder 5">
            <a:extLst>
              <a:ext uri="{FF2B5EF4-FFF2-40B4-BE49-F238E27FC236}">
                <a16:creationId xmlns:a16="http://schemas.microsoft.com/office/drawing/2014/main" id="{F3C2A7A1-D4B9-07C6-3E6F-5B47C0C15A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C403B3-865E-031D-7BAF-3B11F2384FD2}"/>
              </a:ext>
            </a:extLst>
          </p:cNvPr>
          <p:cNvSpPr>
            <a:spLocks noGrp="1"/>
          </p:cNvSpPr>
          <p:nvPr>
            <p:ph type="sldNum" sz="quarter" idx="12"/>
          </p:nvPr>
        </p:nvSpPr>
        <p:spPr/>
        <p:txBody>
          <a:bodyPr/>
          <a:lstStyle/>
          <a:p>
            <a:fld id="{0B4287E0-D167-634B-9EC8-AA60DB67283B}" type="slidenum">
              <a:rPr lang="en-US" smtClean="0"/>
              <a:t>‹#›</a:t>
            </a:fld>
            <a:endParaRPr lang="en-US"/>
          </a:p>
        </p:txBody>
      </p:sp>
    </p:spTree>
    <p:extLst>
      <p:ext uri="{BB962C8B-B14F-4D97-AF65-F5344CB8AC3E}">
        <p14:creationId xmlns:p14="http://schemas.microsoft.com/office/powerpoint/2010/main" val="1278195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C429A-0F98-5F66-F86B-3E75836851E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9FC5F7E-7E45-2EB2-92B6-F4A13889F4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11B6F3-426D-8F7C-70E7-588F68584292}"/>
              </a:ext>
            </a:extLst>
          </p:cNvPr>
          <p:cNvSpPr>
            <a:spLocks noGrp="1"/>
          </p:cNvSpPr>
          <p:nvPr>
            <p:ph type="dt" sz="half" idx="10"/>
          </p:nvPr>
        </p:nvSpPr>
        <p:spPr/>
        <p:txBody>
          <a:bodyPr/>
          <a:lstStyle/>
          <a:p>
            <a:fld id="{0266D8D7-1006-9340-8393-585DE1E9BC7B}" type="datetimeFigureOut">
              <a:rPr lang="en-US" smtClean="0"/>
              <a:t>8/12/26</a:t>
            </a:fld>
            <a:endParaRPr lang="en-US"/>
          </a:p>
        </p:txBody>
      </p:sp>
      <p:sp>
        <p:nvSpPr>
          <p:cNvPr id="5" name="Footer Placeholder 4">
            <a:extLst>
              <a:ext uri="{FF2B5EF4-FFF2-40B4-BE49-F238E27FC236}">
                <a16:creationId xmlns:a16="http://schemas.microsoft.com/office/drawing/2014/main" id="{4270423D-26FE-C359-61B5-8CA33D16F6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1AE8AD-CFB1-2259-8E6A-5CAB91F1F714}"/>
              </a:ext>
            </a:extLst>
          </p:cNvPr>
          <p:cNvSpPr>
            <a:spLocks noGrp="1"/>
          </p:cNvSpPr>
          <p:nvPr>
            <p:ph type="sldNum" sz="quarter" idx="12"/>
          </p:nvPr>
        </p:nvSpPr>
        <p:spPr/>
        <p:txBody>
          <a:bodyPr/>
          <a:lstStyle/>
          <a:p>
            <a:fld id="{0B4287E0-D167-634B-9EC8-AA60DB67283B}" type="slidenum">
              <a:rPr lang="en-US" smtClean="0"/>
              <a:t>‹#›</a:t>
            </a:fld>
            <a:endParaRPr lang="en-US"/>
          </a:p>
        </p:txBody>
      </p:sp>
    </p:spTree>
    <p:extLst>
      <p:ext uri="{BB962C8B-B14F-4D97-AF65-F5344CB8AC3E}">
        <p14:creationId xmlns:p14="http://schemas.microsoft.com/office/powerpoint/2010/main" val="10670974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273654-E893-F7BA-2C3D-EEE0853F80F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58E70E5-A6C4-F1D1-9A1E-12D8AC609AE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D10463-DB55-0373-12C6-3B24B325934A}"/>
              </a:ext>
            </a:extLst>
          </p:cNvPr>
          <p:cNvSpPr>
            <a:spLocks noGrp="1"/>
          </p:cNvSpPr>
          <p:nvPr>
            <p:ph type="dt" sz="half" idx="10"/>
          </p:nvPr>
        </p:nvSpPr>
        <p:spPr/>
        <p:txBody>
          <a:bodyPr/>
          <a:lstStyle/>
          <a:p>
            <a:fld id="{0266D8D7-1006-9340-8393-585DE1E9BC7B}" type="datetimeFigureOut">
              <a:rPr lang="en-US" smtClean="0"/>
              <a:t>8/12/26</a:t>
            </a:fld>
            <a:endParaRPr lang="en-US"/>
          </a:p>
        </p:txBody>
      </p:sp>
      <p:sp>
        <p:nvSpPr>
          <p:cNvPr id="5" name="Footer Placeholder 4">
            <a:extLst>
              <a:ext uri="{FF2B5EF4-FFF2-40B4-BE49-F238E27FC236}">
                <a16:creationId xmlns:a16="http://schemas.microsoft.com/office/drawing/2014/main" id="{6A74EB11-E0A9-5948-32DF-C3A8B7C2F4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721B40-A31F-F057-DFE2-E672A5E8FC84}"/>
              </a:ext>
            </a:extLst>
          </p:cNvPr>
          <p:cNvSpPr>
            <a:spLocks noGrp="1"/>
          </p:cNvSpPr>
          <p:nvPr>
            <p:ph type="sldNum" sz="quarter" idx="12"/>
          </p:nvPr>
        </p:nvSpPr>
        <p:spPr/>
        <p:txBody>
          <a:bodyPr/>
          <a:lstStyle/>
          <a:p>
            <a:fld id="{0B4287E0-D167-634B-9EC8-AA60DB67283B}" type="slidenum">
              <a:rPr lang="en-US" smtClean="0"/>
              <a:t>‹#›</a:t>
            </a:fld>
            <a:endParaRPr lang="en-US"/>
          </a:p>
        </p:txBody>
      </p:sp>
    </p:spTree>
    <p:extLst>
      <p:ext uri="{BB962C8B-B14F-4D97-AF65-F5344CB8AC3E}">
        <p14:creationId xmlns:p14="http://schemas.microsoft.com/office/powerpoint/2010/main" val="4064463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EACB6A-3B11-5CB3-15AD-D08C10B062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152416A-9D8B-2BF7-D14E-F80D4BA637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6D7DBE-9BFA-A61C-BF87-0197100898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266D8D7-1006-9340-8393-585DE1E9BC7B}" type="datetimeFigureOut">
              <a:rPr lang="en-US" smtClean="0"/>
              <a:t>8/12/26</a:t>
            </a:fld>
            <a:endParaRPr lang="en-US"/>
          </a:p>
        </p:txBody>
      </p:sp>
      <p:sp>
        <p:nvSpPr>
          <p:cNvPr id="5" name="Footer Placeholder 4">
            <a:extLst>
              <a:ext uri="{FF2B5EF4-FFF2-40B4-BE49-F238E27FC236}">
                <a16:creationId xmlns:a16="http://schemas.microsoft.com/office/drawing/2014/main" id="{7CE037C0-6CF3-5F83-BD5C-22C42FDA43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A5919EF-38BB-BCF6-9BE5-7AA8400C50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B4287E0-D167-634B-9EC8-AA60DB67283B}" type="slidenum">
              <a:rPr lang="en-US" smtClean="0"/>
              <a:t>‹#›</a:t>
            </a:fld>
            <a:endParaRPr lang="en-US"/>
          </a:p>
        </p:txBody>
      </p:sp>
    </p:spTree>
    <p:extLst>
      <p:ext uri="{BB962C8B-B14F-4D97-AF65-F5344CB8AC3E}">
        <p14:creationId xmlns:p14="http://schemas.microsoft.com/office/powerpoint/2010/main" val="17204155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hyperlink" Target="https://pmc.ncbi.nlm.nih.gov/articles/PMC5467103/" TargetMode="External"/><Relationship Id="rId2" Type="http://schemas.openxmlformats.org/officeDocument/2006/relationships/hyperlink" Target="https://www.pathologyoutlines.com/topic/thyroidstaging.html" TargetMode="Externa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hyperlink" Target="https://www.pathologyoutlines.com/topic/oralcavitystagingmucosalmelanoma.html" TargetMode="External"/><Relationship Id="rId7" Type="http://schemas.openxmlformats.org/officeDocument/2006/relationships/image" Target="../media/image21.png"/><Relationship Id="rId2" Type="http://schemas.openxmlformats.org/officeDocument/2006/relationships/hyperlink" Target="https://radiopaedia.org/articles/mucosal-melanoma-of-the-head-and-neck-staging?lang=us" TargetMode="Externa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hyperlink" Target="https://www.pathologyoutlines.com/topic/skintumornonmelanocyticstagingskincarcinoma.html" TargetMode="External"/><Relationship Id="rId7" Type="http://schemas.openxmlformats.org/officeDocument/2006/relationships/image" Target="../media/image25.png"/><Relationship Id="rId2" Type="http://schemas.openxmlformats.org/officeDocument/2006/relationships/hyperlink" Target="https://radiopaedia.org/articles/cutaneous-carcinoma-of-the-head-and-neck-staging?lang=us" TargetMode="Externa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hyperlink" Target="https://www.redjournal.org/article/S0360-3016(23)05001-0/fulltext" TargetMode="External"/><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hyperlink" Target="https://emedicine.medscape.com/article/2006584-overview" TargetMode="External"/><Relationship Id="rId5" Type="http://schemas.openxmlformats.org/officeDocument/2006/relationships/image" Target="../media/image30.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FDF31-DC5B-6B88-F21E-CB52FE00A700}"/>
              </a:ext>
            </a:extLst>
          </p:cNvPr>
          <p:cNvSpPr>
            <a:spLocks noGrp="1"/>
          </p:cNvSpPr>
          <p:nvPr>
            <p:ph type="title"/>
          </p:nvPr>
        </p:nvSpPr>
        <p:spPr/>
        <p:txBody>
          <a:bodyPr/>
          <a:lstStyle/>
          <a:p>
            <a:r>
              <a:rPr lang="en-US" dirty="0"/>
              <a:t>instructions</a:t>
            </a:r>
          </a:p>
        </p:txBody>
      </p:sp>
      <p:sp>
        <p:nvSpPr>
          <p:cNvPr id="3" name="Content Placeholder 2">
            <a:extLst>
              <a:ext uri="{FF2B5EF4-FFF2-40B4-BE49-F238E27FC236}">
                <a16:creationId xmlns:a16="http://schemas.microsoft.com/office/drawing/2014/main" id="{804CD265-1D70-3EE2-A043-B63082CBBE1D}"/>
              </a:ext>
            </a:extLst>
          </p:cNvPr>
          <p:cNvSpPr>
            <a:spLocks noGrp="1"/>
          </p:cNvSpPr>
          <p:nvPr>
            <p:ph idx="1"/>
          </p:nvPr>
        </p:nvSpPr>
        <p:spPr>
          <a:xfrm>
            <a:off x="838200" y="1825624"/>
            <a:ext cx="10515600" cy="4782993"/>
          </a:xfrm>
        </p:spPr>
        <p:txBody>
          <a:bodyPr>
            <a:normAutofit fontScale="70000" lnSpcReduction="20000"/>
          </a:bodyPr>
          <a:lstStyle/>
          <a:p>
            <a:r>
              <a:rPr lang="en-US" dirty="0"/>
              <a:t>Please make a lightning-fast, mobile-first webapp that allows people to quickly stage H&amp;N malignancies with newest AJCC guidelines. The goal is for students to go through quick radio buttons/menu selects in as few actions as possible to arrive at staging.</a:t>
            </a:r>
          </a:p>
          <a:p>
            <a:r>
              <a:rPr lang="en-US" dirty="0"/>
              <a:t>There is a </a:t>
            </a:r>
            <a:r>
              <a:rPr lang="en-US" dirty="0" err="1"/>
              <a:t>powerpoint</a:t>
            </a:r>
            <a:r>
              <a:rPr lang="en-US" dirty="0"/>
              <a:t> in the project directory. Use images in these slides as the basis for TNM staging and prognostic staging (e.g. Stage I/II/III/IV).</a:t>
            </a:r>
          </a:p>
          <a:p>
            <a:r>
              <a:rPr lang="en-US" b="1" u="sng" dirty="0"/>
              <a:t>Double check everything</a:t>
            </a:r>
            <a:r>
              <a:rPr lang="en-US" dirty="0"/>
              <a:t>. Citations are necessary. Students need to be able to trust this. I included URLs for the image sources, but please double-check it with a 2</a:t>
            </a:r>
            <a:r>
              <a:rPr lang="en-US" baseline="30000" dirty="0"/>
              <a:t>nd</a:t>
            </a:r>
            <a:r>
              <a:rPr lang="en-US" dirty="0"/>
              <a:t> peer-reviewed or reputable source—preferably the AJCC staging itself. Make sure everything is up-to-date.</a:t>
            </a:r>
          </a:p>
          <a:p>
            <a:r>
              <a:rPr lang="en-US" dirty="0"/>
              <a:t>Every staged cancer should show an image of the survival curve for that prognostic stage at the final stage, with a reference to the paper for that staging.</a:t>
            </a:r>
          </a:p>
          <a:p>
            <a:r>
              <a:rPr lang="en-US" dirty="0"/>
              <a:t>Make sure that </a:t>
            </a:r>
            <a:r>
              <a:rPr lang="en-US" dirty="0" err="1"/>
              <a:t>cTNM</a:t>
            </a:r>
            <a:r>
              <a:rPr lang="en-US" dirty="0"/>
              <a:t> staging and </a:t>
            </a:r>
            <a:r>
              <a:rPr lang="en-US" dirty="0" err="1"/>
              <a:t>pTNM</a:t>
            </a:r>
            <a:r>
              <a:rPr lang="en-US" dirty="0"/>
              <a:t> staging align with prognostic staging if they are different for anything.</a:t>
            </a:r>
          </a:p>
          <a:p>
            <a:r>
              <a:rPr lang="en-US" dirty="0"/>
              <a:t>If you have questions about the plan or something I’ve provided seems wrong/inconsistent, please ask.</a:t>
            </a:r>
          </a:p>
          <a:p>
            <a:r>
              <a:rPr lang="en-US" dirty="0"/>
              <a:t>This is for educational purposes only—not for clinical practice.</a:t>
            </a:r>
          </a:p>
          <a:p>
            <a:r>
              <a:rPr lang="en-US" dirty="0"/>
              <a:t>Please suggest a plan for hosting this app online. Minimize cost. </a:t>
            </a:r>
            <a:r>
              <a:rPr lang="en-US"/>
              <a:t>Assume 20 </a:t>
            </a:r>
            <a:r>
              <a:rPr lang="en-US" dirty="0"/>
              <a:t>users/day.</a:t>
            </a:r>
          </a:p>
        </p:txBody>
      </p:sp>
    </p:spTree>
    <p:extLst>
      <p:ext uri="{BB962C8B-B14F-4D97-AF65-F5344CB8AC3E}">
        <p14:creationId xmlns:p14="http://schemas.microsoft.com/office/powerpoint/2010/main" val="3873881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58B086C-EDC1-FA97-AEE2-5F526507EA32}"/>
              </a:ext>
            </a:extLst>
          </p:cNvPr>
          <p:cNvSpPr txBox="1"/>
          <p:nvPr/>
        </p:nvSpPr>
        <p:spPr>
          <a:xfrm>
            <a:off x="1123721" y="5939924"/>
            <a:ext cx="8375573" cy="369332"/>
          </a:xfrm>
          <a:prstGeom prst="rect">
            <a:avLst/>
          </a:prstGeom>
          <a:noFill/>
        </p:spPr>
        <p:txBody>
          <a:bodyPr wrap="square">
            <a:spAutoFit/>
          </a:bodyPr>
          <a:lstStyle/>
          <a:p>
            <a:r>
              <a:rPr lang="en-US" dirty="0"/>
              <a:t>https://</a:t>
            </a:r>
            <a:r>
              <a:rPr lang="en-US" dirty="0" err="1"/>
              <a:t>www.facs.org</a:t>
            </a:r>
            <a:r>
              <a:rPr lang="en-US" dirty="0"/>
              <a:t>/media/c5ik5tkr/ajcc-current-staging-system-2026.pdf</a:t>
            </a:r>
          </a:p>
        </p:txBody>
      </p:sp>
      <p:pic>
        <p:nvPicPr>
          <p:cNvPr id="9" name="Picture 8">
            <a:extLst>
              <a:ext uri="{FF2B5EF4-FFF2-40B4-BE49-F238E27FC236}">
                <a16:creationId xmlns:a16="http://schemas.microsoft.com/office/drawing/2014/main" id="{7889E8A1-EC0C-0C2F-A1AE-C2ED84C74BE6}"/>
              </a:ext>
            </a:extLst>
          </p:cNvPr>
          <p:cNvPicPr>
            <a:picLocks noChangeAspect="1"/>
          </p:cNvPicPr>
          <p:nvPr/>
        </p:nvPicPr>
        <p:blipFill>
          <a:blip r:embed="rId2"/>
          <a:stretch>
            <a:fillRect/>
          </a:stretch>
        </p:blipFill>
        <p:spPr>
          <a:xfrm>
            <a:off x="228753" y="548744"/>
            <a:ext cx="8997062" cy="5047825"/>
          </a:xfrm>
          <a:prstGeom prst="rect">
            <a:avLst/>
          </a:prstGeom>
        </p:spPr>
      </p:pic>
    </p:spTree>
    <p:extLst>
      <p:ext uri="{BB962C8B-B14F-4D97-AF65-F5344CB8AC3E}">
        <p14:creationId xmlns:p14="http://schemas.microsoft.com/office/powerpoint/2010/main" val="23327868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FAB4D9D-B0A9-A719-C26E-121B45A243AD}"/>
              </a:ext>
            </a:extLst>
          </p:cNvPr>
          <p:cNvPicPr>
            <a:picLocks noChangeAspect="1"/>
          </p:cNvPicPr>
          <p:nvPr/>
        </p:nvPicPr>
        <p:blipFill>
          <a:blip r:embed="rId2"/>
          <a:stretch>
            <a:fillRect/>
          </a:stretch>
        </p:blipFill>
        <p:spPr>
          <a:xfrm>
            <a:off x="3601944" y="940564"/>
            <a:ext cx="4988111" cy="5147632"/>
          </a:xfrm>
          <a:prstGeom prst="rect">
            <a:avLst/>
          </a:prstGeom>
        </p:spPr>
      </p:pic>
      <p:sp>
        <p:nvSpPr>
          <p:cNvPr id="5" name="TextBox 4">
            <a:extLst>
              <a:ext uri="{FF2B5EF4-FFF2-40B4-BE49-F238E27FC236}">
                <a16:creationId xmlns:a16="http://schemas.microsoft.com/office/drawing/2014/main" id="{DDBCF2E3-0B69-2C05-9173-D0A1EDC1A279}"/>
              </a:ext>
            </a:extLst>
          </p:cNvPr>
          <p:cNvSpPr txBox="1"/>
          <p:nvPr/>
        </p:nvSpPr>
        <p:spPr>
          <a:xfrm>
            <a:off x="154237" y="104634"/>
            <a:ext cx="6569619" cy="707886"/>
          </a:xfrm>
          <a:prstGeom prst="rect">
            <a:avLst/>
          </a:prstGeom>
          <a:noFill/>
        </p:spPr>
        <p:txBody>
          <a:bodyPr wrap="none" rtlCol="0">
            <a:spAutoFit/>
          </a:bodyPr>
          <a:lstStyle/>
          <a:p>
            <a:r>
              <a:rPr lang="en-US" sz="4000" dirty="0"/>
              <a:t>Oropharyngeal p16 POSITIVE</a:t>
            </a:r>
          </a:p>
        </p:txBody>
      </p:sp>
      <p:sp>
        <p:nvSpPr>
          <p:cNvPr id="8" name="TextBox 7">
            <a:extLst>
              <a:ext uri="{FF2B5EF4-FFF2-40B4-BE49-F238E27FC236}">
                <a16:creationId xmlns:a16="http://schemas.microsoft.com/office/drawing/2014/main" id="{621DE37B-523D-0D7E-6FD2-E9481FE034FF}"/>
              </a:ext>
            </a:extLst>
          </p:cNvPr>
          <p:cNvSpPr txBox="1"/>
          <p:nvPr/>
        </p:nvSpPr>
        <p:spPr>
          <a:xfrm>
            <a:off x="3298987" y="6216240"/>
            <a:ext cx="6849738" cy="369332"/>
          </a:xfrm>
          <a:prstGeom prst="rect">
            <a:avLst/>
          </a:prstGeom>
          <a:noFill/>
        </p:spPr>
        <p:txBody>
          <a:bodyPr wrap="square">
            <a:spAutoFit/>
          </a:bodyPr>
          <a:lstStyle/>
          <a:p>
            <a:r>
              <a:rPr lang="en-US" dirty="0"/>
              <a:t>https://</a:t>
            </a:r>
            <a:r>
              <a:rPr lang="en-US" dirty="0" err="1"/>
              <a:t>link.springer.com</a:t>
            </a:r>
            <a:r>
              <a:rPr lang="en-US" dirty="0"/>
              <a:t>/article/10.1245/s10434-026-19496-2</a:t>
            </a:r>
          </a:p>
        </p:txBody>
      </p:sp>
    </p:spTree>
    <p:extLst>
      <p:ext uri="{BB962C8B-B14F-4D97-AF65-F5344CB8AC3E}">
        <p14:creationId xmlns:p14="http://schemas.microsoft.com/office/powerpoint/2010/main" val="63311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DFFCF-0CC7-5B1D-8ACA-DB35AD3BF25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85C8D1C-3F5E-EC0A-7317-7256C72C994D}"/>
              </a:ext>
            </a:extLst>
          </p:cNvPr>
          <p:cNvSpPr txBox="1"/>
          <p:nvPr/>
        </p:nvSpPr>
        <p:spPr>
          <a:xfrm>
            <a:off x="154237" y="104634"/>
            <a:ext cx="6752939" cy="707886"/>
          </a:xfrm>
          <a:prstGeom prst="rect">
            <a:avLst/>
          </a:prstGeom>
          <a:noFill/>
        </p:spPr>
        <p:txBody>
          <a:bodyPr wrap="none" rtlCol="0">
            <a:spAutoFit/>
          </a:bodyPr>
          <a:lstStyle/>
          <a:p>
            <a:r>
              <a:rPr lang="en-US" sz="4000" dirty="0"/>
              <a:t>Oropharyngeal p16 NEGATIVE</a:t>
            </a:r>
          </a:p>
        </p:txBody>
      </p:sp>
      <p:pic>
        <p:nvPicPr>
          <p:cNvPr id="2" name="Picture 1">
            <a:extLst>
              <a:ext uri="{FF2B5EF4-FFF2-40B4-BE49-F238E27FC236}">
                <a16:creationId xmlns:a16="http://schemas.microsoft.com/office/drawing/2014/main" id="{34EF3A3D-8FAF-CEF1-BDD1-E9BB20A8A14F}"/>
              </a:ext>
            </a:extLst>
          </p:cNvPr>
          <p:cNvPicPr>
            <a:picLocks noChangeAspect="1"/>
          </p:cNvPicPr>
          <p:nvPr/>
        </p:nvPicPr>
        <p:blipFill>
          <a:blip r:embed="rId2"/>
          <a:stretch>
            <a:fillRect/>
          </a:stretch>
        </p:blipFill>
        <p:spPr>
          <a:xfrm>
            <a:off x="1939898" y="848298"/>
            <a:ext cx="4560053" cy="5786133"/>
          </a:xfrm>
          <a:prstGeom prst="rect">
            <a:avLst/>
          </a:prstGeom>
        </p:spPr>
      </p:pic>
      <p:sp>
        <p:nvSpPr>
          <p:cNvPr id="7" name="TextBox 6">
            <a:extLst>
              <a:ext uri="{FF2B5EF4-FFF2-40B4-BE49-F238E27FC236}">
                <a16:creationId xmlns:a16="http://schemas.microsoft.com/office/drawing/2014/main" id="{EB302593-3168-8571-4BFD-F8EC8828C29B}"/>
              </a:ext>
            </a:extLst>
          </p:cNvPr>
          <p:cNvSpPr txBox="1"/>
          <p:nvPr/>
        </p:nvSpPr>
        <p:spPr>
          <a:xfrm>
            <a:off x="0" y="6581001"/>
            <a:ext cx="11644829" cy="276999"/>
          </a:xfrm>
          <a:prstGeom prst="rect">
            <a:avLst/>
          </a:prstGeom>
          <a:noFill/>
        </p:spPr>
        <p:txBody>
          <a:bodyPr wrap="square">
            <a:spAutoFit/>
          </a:bodyPr>
          <a:lstStyle/>
          <a:p>
            <a:r>
              <a:rPr lang="en-US" sz="1200" dirty="0"/>
              <a:t>https://</a:t>
            </a:r>
            <a:r>
              <a:rPr lang="en-US" sz="1200" dirty="0" err="1"/>
              <a:t>www.cancernetwork.com</a:t>
            </a:r>
            <a:r>
              <a:rPr lang="en-US" sz="1200" dirty="0"/>
              <a:t>/view/emergence-novel-staging-system-oropharyngeal-squamous-cell-carcinoma-based-hpv-status</a:t>
            </a:r>
          </a:p>
        </p:txBody>
      </p:sp>
      <p:pic>
        <p:nvPicPr>
          <p:cNvPr id="8" name="Picture 7">
            <a:extLst>
              <a:ext uri="{FF2B5EF4-FFF2-40B4-BE49-F238E27FC236}">
                <a16:creationId xmlns:a16="http://schemas.microsoft.com/office/drawing/2014/main" id="{45EF2E4F-87A4-2D9B-762D-963B94C7BACE}"/>
              </a:ext>
            </a:extLst>
          </p:cNvPr>
          <p:cNvPicPr>
            <a:picLocks noChangeAspect="1"/>
          </p:cNvPicPr>
          <p:nvPr/>
        </p:nvPicPr>
        <p:blipFill>
          <a:blip r:embed="rId3"/>
          <a:stretch>
            <a:fillRect/>
          </a:stretch>
        </p:blipFill>
        <p:spPr>
          <a:xfrm>
            <a:off x="7344302" y="2179432"/>
            <a:ext cx="2907800" cy="2499136"/>
          </a:xfrm>
          <a:prstGeom prst="rect">
            <a:avLst/>
          </a:prstGeom>
        </p:spPr>
      </p:pic>
    </p:spTree>
    <p:extLst>
      <p:ext uri="{BB962C8B-B14F-4D97-AF65-F5344CB8AC3E}">
        <p14:creationId xmlns:p14="http://schemas.microsoft.com/office/powerpoint/2010/main" val="3879733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A916D-62E8-E3B8-89A7-ADC7BACD114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4C9C5F4-88FA-76A8-0968-3631F0AF1651}"/>
              </a:ext>
            </a:extLst>
          </p:cNvPr>
          <p:cNvSpPr txBox="1"/>
          <p:nvPr/>
        </p:nvSpPr>
        <p:spPr>
          <a:xfrm>
            <a:off x="154237" y="104634"/>
            <a:ext cx="2515882" cy="707886"/>
          </a:xfrm>
          <a:prstGeom prst="rect">
            <a:avLst/>
          </a:prstGeom>
          <a:noFill/>
        </p:spPr>
        <p:txBody>
          <a:bodyPr wrap="none" rtlCol="0">
            <a:spAutoFit/>
          </a:bodyPr>
          <a:lstStyle/>
          <a:p>
            <a:r>
              <a:rPr lang="en-US" sz="4000" dirty="0"/>
              <a:t>Oral cavity</a:t>
            </a:r>
          </a:p>
        </p:txBody>
      </p:sp>
      <p:pic>
        <p:nvPicPr>
          <p:cNvPr id="4" name="Picture 3">
            <a:extLst>
              <a:ext uri="{FF2B5EF4-FFF2-40B4-BE49-F238E27FC236}">
                <a16:creationId xmlns:a16="http://schemas.microsoft.com/office/drawing/2014/main" id="{A32D80A4-C714-A67C-2D7F-AC2974C7189E}"/>
              </a:ext>
            </a:extLst>
          </p:cNvPr>
          <p:cNvPicPr>
            <a:picLocks noChangeAspect="1"/>
          </p:cNvPicPr>
          <p:nvPr/>
        </p:nvPicPr>
        <p:blipFill>
          <a:blip r:embed="rId2"/>
          <a:stretch>
            <a:fillRect/>
          </a:stretch>
        </p:blipFill>
        <p:spPr>
          <a:xfrm>
            <a:off x="154237" y="1572790"/>
            <a:ext cx="4462043" cy="3712420"/>
          </a:xfrm>
          <a:prstGeom prst="rect">
            <a:avLst/>
          </a:prstGeom>
        </p:spPr>
      </p:pic>
      <p:pic>
        <p:nvPicPr>
          <p:cNvPr id="8" name="Picture 7">
            <a:extLst>
              <a:ext uri="{FF2B5EF4-FFF2-40B4-BE49-F238E27FC236}">
                <a16:creationId xmlns:a16="http://schemas.microsoft.com/office/drawing/2014/main" id="{8031440D-39C6-F773-1584-EDD94924B2A3}"/>
              </a:ext>
            </a:extLst>
          </p:cNvPr>
          <p:cNvPicPr>
            <a:picLocks noChangeAspect="1"/>
          </p:cNvPicPr>
          <p:nvPr/>
        </p:nvPicPr>
        <p:blipFill>
          <a:blip r:embed="rId3"/>
          <a:stretch>
            <a:fillRect/>
          </a:stretch>
        </p:blipFill>
        <p:spPr>
          <a:xfrm>
            <a:off x="4781533" y="1817705"/>
            <a:ext cx="4462044" cy="3222588"/>
          </a:xfrm>
          <a:prstGeom prst="rect">
            <a:avLst/>
          </a:prstGeom>
        </p:spPr>
      </p:pic>
      <p:sp>
        <p:nvSpPr>
          <p:cNvPr id="11" name="TextBox 10">
            <a:extLst>
              <a:ext uri="{FF2B5EF4-FFF2-40B4-BE49-F238E27FC236}">
                <a16:creationId xmlns:a16="http://schemas.microsoft.com/office/drawing/2014/main" id="{A164953B-7F52-986F-98ED-EE835E00A7D6}"/>
              </a:ext>
            </a:extLst>
          </p:cNvPr>
          <p:cNvSpPr txBox="1"/>
          <p:nvPr/>
        </p:nvSpPr>
        <p:spPr>
          <a:xfrm>
            <a:off x="9897836" y="3105834"/>
            <a:ext cx="1408462" cy="646331"/>
          </a:xfrm>
          <a:prstGeom prst="rect">
            <a:avLst/>
          </a:prstGeom>
          <a:noFill/>
        </p:spPr>
        <p:txBody>
          <a:bodyPr wrap="none" rtlCol="0">
            <a:spAutoFit/>
          </a:bodyPr>
          <a:lstStyle/>
          <a:p>
            <a:r>
              <a:rPr lang="en-US" dirty="0"/>
              <a:t>M0: no </a:t>
            </a:r>
            <a:r>
              <a:rPr lang="en-US" dirty="0" err="1"/>
              <a:t>mets</a:t>
            </a:r>
            <a:endParaRPr lang="en-US" dirty="0"/>
          </a:p>
          <a:p>
            <a:r>
              <a:rPr lang="en-US" dirty="0"/>
              <a:t>M1: </a:t>
            </a:r>
            <a:r>
              <a:rPr lang="en-US" dirty="0" err="1"/>
              <a:t>mets</a:t>
            </a:r>
            <a:endParaRPr lang="en-US" dirty="0"/>
          </a:p>
        </p:txBody>
      </p:sp>
      <p:sp>
        <p:nvSpPr>
          <p:cNvPr id="13" name="TextBox 12">
            <a:extLst>
              <a:ext uri="{FF2B5EF4-FFF2-40B4-BE49-F238E27FC236}">
                <a16:creationId xmlns:a16="http://schemas.microsoft.com/office/drawing/2014/main" id="{F8156DAA-4DB3-3EB1-8EEC-E6F75DFE3B55}"/>
              </a:ext>
            </a:extLst>
          </p:cNvPr>
          <p:cNvSpPr txBox="1"/>
          <p:nvPr/>
        </p:nvSpPr>
        <p:spPr>
          <a:xfrm>
            <a:off x="0" y="6488668"/>
            <a:ext cx="6130886" cy="369332"/>
          </a:xfrm>
          <a:prstGeom prst="rect">
            <a:avLst/>
          </a:prstGeom>
          <a:noFill/>
        </p:spPr>
        <p:txBody>
          <a:bodyPr wrap="square">
            <a:spAutoFit/>
          </a:bodyPr>
          <a:lstStyle/>
          <a:p>
            <a:r>
              <a:rPr lang="en-US" dirty="0"/>
              <a:t>https://</a:t>
            </a:r>
            <a:r>
              <a:rPr lang="en-US" dirty="0" err="1"/>
              <a:t>pmc.ncbi.nlm.nih.gov</a:t>
            </a:r>
            <a:r>
              <a:rPr lang="en-US" dirty="0"/>
              <a:t>/articles/PMC12883927</a:t>
            </a:r>
          </a:p>
        </p:txBody>
      </p:sp>
    </p:spTree>
    <p:extLst>
      <p:ext uri="{BB962C8B-B14F-4D97-AF65-F5344CB8AC3E}">
        <p14:creationId xmlns:p14="http://schemas.microsoft.com/office/powerpoint/2010/main" val="2713723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59C3C-2E1A-C888-CA84-354280DBDEC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66C297D7-CD06-1F91-61C6-00DC272D975A}"/>
              </a:ext>
            </a:extLst>
          </p:cNvPr>
          <p:cNvPicPr>
            <a:picLocks noChangeAspect="1"/>
          </p:cNvPicPr>
          <p:nvPr/>
        </p:nvPicPr>
        <p:blipFill>
          <a:blip r:embed="rId2"/>
          <a:stretch>
            <a:fillRect/>
          </a:stretch>
        </p:blipFill>
        <p:spPr>
          <a:xfrm>
            <a:off x="154237" y="663645"/>
            <a:ext cx="5675715" cy="5965634"/>
          </a:xfrm>
          <a:prstGeom prst="rect">
            <a:avLst/>
          </a:prstGeom>
        </p:spPr>
      </p:pic>
      <p:sp>
        <p:nvSpPr>
          <p:cNvPr id="5" name="TextBox 4">
            <a:extLst>
              <a:ext uri="{FF2B5EF4-FFF2-40B4-BE49-F238E27FC236}">
                <a16:creationId xmlns:a16="http://schemas.microsoft.com/office/drawing/2014/main" id="{344BAF17-3B91-682A-9AE7-0C661186CE93}"/>
              </a:ext>
            </a:extLst>
          </p:cNvPr>
          <p:cNvSpPr txBox="1"/>
          <p:nvPr/>
        </p:nvSpPr>
        <p:spPr>
          <a:xfrm>
            <a:off x="154237" y="104634"/>
            <a:ext cx="1641411" cy="707886"/>
          </a:xfrm>
          <a:prstGeom prst="rect">
            <a:avLst/>
          </a:prstGeom>
          <a:noFill/>
        </p:spPr>
        <p:txBody>
          <a:bodyPr wrap="none" rtlCol="0">
            <a:spAutoFit/>
          </a:bodyPr>
          <a:lstStyle/>
          <a:p>
            <a:r>
              <a:rPr lang="en-US" sz="4000" dirty="0"/>
              <a:t>Larynx</a:t>
            </a:r>
          </a:p>
        </p:txBody>
      </p:sp>
      <p:sp>
        <p:nvSpPr>
          <p:cNvPr id="3" name="TextBox 2">
            <a:extLst>
              <a:ext uri="{FF2B5EF4-FFF2-40B4-BE49-F238E27FC236}">
                <a16:creationId xmlns:a16="http://schemas.microsoft.com/office/drawing/2014/main" id="{A3800472-5675-F438-21BD-F64A03F6A3A9}"/>
              </a:ext>
            </a:extLst>
          </p:cNvPr>
          <p:cNvSpPr txBox="1"/>
          <p:nvPr/>
        </p:nvSpPr>
        <p:spPr>
          <a:xfrm>
            <a:off x="0" y="6480404"/>
            <a:ext cx="8766671" cy="369332"/>
          </a:xfrm>
          <a:prstGeom prst="rect">
            <a:avLst/>
          </a:prstGeom>
          <a:noFill/>
        </p:spPr>
        <p:txBody>
          <a:bodyPr wrap="square">
            <a:spAutoFit/>
          </a:bodyPr>
          <a:lstStyle/>
          <a:p>
            <a:r>
              <a:rPr lang="en-US" dirty="0"/>
              <a:t>https://</a:t>
            </a:r>
            <a:r>
              <a:rPr lang="en-US" dirty="0" err="1"/>
              <a:t>dl.icdst.org</a:t>
            </a:r>
            <a:r>
              <a:rPr lang="en-US" dirty="0"/>
              <a:t>/pdfs/files3/c9ae57945f9300e9866af6cbbdc0ef86.pdf</a:t>
            </a:r>
          </a:p>
        </p:txBody>
      </p:sp>
      <p:pic>
        <p:nvPicPr>
          <p:cNvPr id="10" name="Picture 9">
            <a:extLst>
              <a:ext uri="{FF2B5EF4-FFF2-40B4-BE49-F238E27FC236}">
                <a16:creationId xmlns:a16="http://schemas.microsoft.com/office/drawing/2014/main" id="{A18D0DA8-2B73-913F-E76C-1EC94BFC622E}"/>
              </a:ext>
            </a:extLst>
          </p:cNvPr>
          <p:cNvPicPr>
            <a:picLocks noChangeAspect="1"/>
          </p:cNvPicPr>
          <p:nvPr/>
        </p:nvPicPr>
        <p:blipFill>
          <a:blip r:embed="rId3"/>
          <a:stretch>
            <a:fillRect/>
          </a:stretch>
        </p:blipFill>
        <p:spPr>
          <a:xfrm>
            <a:off x="5920445" y="663645"/>
            <a:ext cx="5692451" cy="5095301"/>
          </a:xfrm>
          <a:prstGeom prst="rect">
            <a:avLst/>
          </a:prstGeom>
        </p:spPr>
      </p:pic>
      <p:pic>
        <p:nvPicPr>
          <p:cNvPr id="13" name="Picture 12">
            <a:extLst>
              <a:ext uri="{FF2B5EF4-FFF2-40B4-BE49-F238E27FC236}">
                <a16:creationId xmlns:a16="http://schemas.microsoft.com/office/drawing/2014/main" id="{08F13B8B-3B8D-FBDD-AC96-43D1367A8E1E}"/>
              </a:ext>
            </a:extLst>
          </p:cNvPr>
          <p:cNvPicPr>
            <a:picLocks noChangeAspect="1"/>
          </p:cNvPicPr>
          <p:nvPr/>
        </p:nvPicPr>
        <p:blipFill>
          <a:blip r:embed="rId4"/>
          <a:stretch>
            <a:fillRect/>
          </a:stretch>
        </p:blipFill>
        <p:spPr>
          <a:xfrm>
            <a:off x="8597595" y="5758946"/>
            <a:ext cx="1923514" cy="1108930"/>
          </a:xfrm>
          <a:prstGeom prst="rect">
            <a:avLst/>
          </a:prstGeom>
        </p:spPr>
      </p:pic>
    </p:spTree>
    <p:extLst>
      <p:ext uri="{BB962C8B-B14F-4D97-AF65-F5344CB8AC3E}">
        <p14:creationId xmlns:p14="http://schemas.microsoft.com/office/powerpoint/2010/main" val="1678293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462EB-7167-89FB-4E6B-12916071E94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02B9D5E-368B-F7C2-17CF-C65CEA0D547B}"/>
              </a:ext>
            </a:extLst>
          </p:cNvPr>
          <p:cNvSpPr txBox="1"/>
          <p:nvPr/>
        </p:nvSpPr>
        <p:spPr>
          <a:xfrm>
            <a:off x="154237" y="104634"/>
            <a:ext cx="3244414" cy="707886"/>
          </a:xfrm>
          <a:prstGeom prst="rect">
            <a:avLst/>
          </a:prstGeom>
          <a:noFill/>
        </p:spPr>
        <p:txBody>
          <a:bodyPr wrap="none" rtlCol="0">
            <a:spAutoFit/>
          </a:bodyPr>
          <a:lstStyle/>
          <a:p>
            <a:r>
              <a:rPr lang="en-US" sz="4000" dirty="0"/>
              <a:t>Salivary gland</a:t>
            </a:r>
          </a:p>
        </p:txBody>
      </p:sp>
      <p:sp>
        <p:nvSpPr>
          <p:cNvPr id="3" name="TextBox 2">
            <a:extLst>
              <a:ext uri="{FF2B5EF4-FFF2-40B4-BE49-F238E27FC236}">
                <a16:creationId xmlns:a16="http://schemas.microsoft.com/office/drawing/2014/main" id="{F1C1B75D-288D-9F69-19CB-C6EC031A16E6}"/>
              </a:ext>
            </a:extLst>
          </p:cNvPr>
          <p:cNvSpPr txBox="1"/>
          <p:nvPr/>
        </p:nvSpPr>
        <p:spPr>
          <a:xfrm>
            <a:off x="0" y="5819392"/>
            <a:ext cx="5012675" cy="646331"/>
          </a:xfrm>
          <a:prstGeom prst="rect">
            <a:avLst/>
          </a:prstGeom>
          <a:noFill/>
        </p:spPr>
        <p:txBody>
          <a:bodyPr wrap="square">
            <a:spAutoFit/>
          </a:bodyPr>
          <a:lstStyle/>
          <a:p>
            <a:r>
              <a:rPr lang="en-US" dirty="0"/>
              <a:t>https://</a:t>
            </a:r>
            <a:r>
              <a:rPr lang="en-US" dirty="0" err="1"/>
              <a:t>link.springer.com</a:t>
            </a:r>
            <a:r>
              <a:rPr lang="en-US" dirty="0"/>
              <a:t>/article/10.1245/s10434-026-19350-5/tables/1</a:t>
            </a:r>
          </a:p>
        </p:txBody>
      </p:sp>
      <p:pic>
        <p:nvPicPr>
          <p:cNvPr id="4" name="Picture 3">
            <a:extLst>
              <a:ext uri="{FF2B5EF4-FFF2-40B4-BE49-F238E27FC236}">
                <a16:creationId xmlns:a16="http://schemas.microsoft.com/office/drawing/2014/main" id="{E8A2B070-0116-912B-E336-AD8E06CC7133}"/>
              </a:ext>
            </a:extLst>
          </p:cNvPr>
          <p:cNvPicPr>
            <a:picLocks noChangeAspect="1"/>
          </p:cNvPicPr>
          <p:nvPr/>
        </p:nvPicPr>
        <p:blipFill>
          <a:blip r:embed="rId2"/>
          <a:stretch>
            <a:fillRect/>
          </a:stretch>
        </p:blipFill>
        <p:spPr>
          <a:xfrm>
            <a:off x="4876800" y="-8264"/>
            <a:ext cx="7315200" cy="6858000"/>
          </a:xfrm>
          <a:prstGeom prst="rect">
            <a:avLst/>
          </a:prstGeom>
        </p:spPr>
      </p:pic>
    </p:spTree>
    <p:extLst>
      <p:ext uri="{BB962C8B-B14F-4D97-AF65-F5344CB8AC3E}">
        <p14:creationId xmlns:p14="http://schemas.microsoft.com/office/powerpoint/2010/main" val="2740484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6DEC9-D76B-59D2-D21C-8D28E3F4515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F675AAD-1DA4-95BA-48AF-A74A8E0482A2}"/>
              </a:ext>
            </a:extLst>
          </p:cNvPr>
          <p:cNvPicPr>
            <a:picLocks noChangeAspect="1"/>
          </p:cNvPicPr>
          <p:nvPr/>
        </p:nvPicPr>
        <p:blipFill>
          <a:blip r:embed="rId2"/>
          <a:stretch>
            <a:fillRect/>
          </a:stretch>
        </p:blipFill>
        <p:spPr>
          <a:xfrm>
            <a:off x="7804281" y="1964138"/>
            <a:ext cx="3910537" cy="2101085"/>
          </a:xfrm>
          <a:prstGeom prst="rect">
            <a:avLst/>
          </a:prstGeom>
        </p:spPr>
      </p:pic>
      <p:sp>
        <p:nvSpPr>
          <p:cNvPr id="4" name="TextBox 3">
            <a:extLst>
              <a:ext uri="{FF2B5EF4-FFF2-40B4-BE49-F238E27FC236}">
                <a16:creationId xmlns:a16="http://schemas.microsoft.com/office/drawing/2014/main" id="{4FE8FFCD-F75D-2ADC-A1DF-66FFDE695880}"/>
              </a:ext>
            </a:extLst>
          </p:cNvPr>
          <p:cNvSpPr txBox="1"/>
          <p:nvPr/>
        </p:nvSpPr>
        <p:spPr>
          <a:xfrm>
            <a:off x="154237" y="104634"/>
            <a:ext cx="3116302" cy="707886"/>
          </a:xfrm>
          <a:prstGeom prst="rect">
            <a:avLst/>
          </a:prstGeom>
          <a:noFill/>
        </p:spPr>
        <p:txBody>
          <a:bodyPr wrap="none" rtlCol="0">
            <a:spAutoFit/>
          </a:bodyPr>
          <a:lstStyle/>
          <a:p>
            <a:r>
              <a:rPr lang="en-US" sz="4000" dirty="0"/>
              <a:t>Nasopharynx</a:t>
            </a:r>
          </a:p>
        </p:txBody>
      </p:sp>
      <p:pic>
        <p:nvPicPr>
          <p:cNvPr id="8" name="Picture 7">
            <a:extLst>
              <a:ext uri="{FF2B5EF4-FFF2-40B4-BE49-F238E27FC236}">
                <a16:creationId xmlns:a16="http://schemas.microsoft.com/office/drawing/2014/main" id="{47BC19ED-41FD-5AB7-D943-9CCA776595CE}"/>
              </a:ext>
            </a:extLst>
          </p:cNvPr>
          <p:cNvPicPr>
            <a:picLocks noChangeAspect="1"/>
          </p:cNvPicPr>
          <p:nvPr/>
        </p:nvPicPr>
        <p:blipFill>
          <a:blip r:embed="rId3"/>
          <a:stretch>
            <a:fillRect/>
          </a:stretch>
        </p:blipFill>
        <p:spPr>
          <a:xfrm>
            <a:off x="-1" y="812520"/>
            <a:ext cx="3902141" cy="4126284"/>
          </a:xfrm>
          <a:prstGeom prst="rect">
            <a:avLst/>
          </a:prstGeom>
        </p:spPr>
      </p:pic>
      <p:pic>
        <p:nvPicPr>
          <p:cNvPr id="10" name="Picture 9">
            <a:extLst>
              <a:ext uri="{FF2B5EF4-FFF2-40B4-BE49-F238E27FC236}">
                <a16:creationId xmlns:a16="http://schemas.microsoft.com/office/drawing/2014/main" id="{D21ED2E1-3BFE-B84A-4789-EB99DD7F4328}"/>
              </a:ext>
            </a:extLst>
          </p:cNvPr>
          <p:cNvPicPr>
            <a:picLocks noChangeAspect="1"/>
          </p:cNvPicPr>
          <p:nvPr/>
        </p:nvPicPr>
        <p:blipFill>
          <a:blip r:embed="rId4"/>
          <a:stretch>
            <a:fillRect/>
          </a:stretch>
        </p:blipFill>
        <p:spPr>
          <a:xfrm>
            <a:off x="3902140" y="812520"/>
            <a:ext cx="3902141" cy="3973646"/>
          </a:xfrm>
          <a:prstGeom prst="rect">
            <a:avLst/>
          </a:prstGeom>
        </p:spPr>
      </p:pic>
      <p:pic>
        <p:nvPicPr>
          <p:cNvPr id="12" name="Picture 11">
            <a:extLst>
              <a:ext uri="{FF2B5EF4-FFF2-40B4-BE49-F238E27FC236}">
                <a16:creationId xmlns:a16="http://schemas.microsoft.com/office/drawing/2014/main" id="{B4FCFB1A-69AA-92D0-2217-538D9977AE94}"/>
              </a:ext>
            </a:extLst>
          </p:cNvPr>
          <p:cNvPicPr>
            <a:picLocks noChangeAspect="1"/>
          </p:cNvPicPr>
          <p:nvPr/>
        </p:nvPicPr>
        <p:blipFill>
          <a:blip r:embed="rId5"/>
          <a:stretch>
            <a:fillRect/>
          </a:stretch>
        </p:blipFill>
        <p:spPr>
          <a:xfrm>
            <a:off x="7804281" y="812520"/>
            <a:ext cx="3902141" cy="944066"/>
          </a:xfrm>
          <a:prstGeom prst="rect">
            <a:avLst/>
          </a:prstGeom>
        </p:spPr>
      </p:pic>
      <p:sp>
        <p:nvSpPr>
          <p:cNvPr id="13" name="TextBox 12">
            <a:extLst>
              <a:ext uri="{FF2B5EF4-FFF2-40B4-BE49-F238E27FC236}">
                <a16:creationId xmlns:a16="http://schemas.microsoft.com/office/drawing/2014/main" id="{69B9EF02-B02C-D7A4-F825-D45DCEF4B484}"/>
              </a:ext>
            </a:extLst>
          </p:cNvPr>
          <p:cNvSpPr txBox="1"/>
          <p:nvPr/>
        </p:nvSpPr>
        <p:spPr>
          <a:xfrm>
            <a:off x="0" y="6488668"/>
            <a:ext cx="7070975" cy="369332"/>
          </a:xfrm>
          <a:prstGeom prst="rect">
            <a:avLst/>
          </a:prstGeom>
          <a:noFill/>
        </p:spPr>
        <p:txBody>
          <a:bodyPr wrap="none" rtlCol="0">
            <a:spAutoFit/>
          </a:bodyPr>
          <a:lstStyle/>
          <a:p>
            <a:r>
              <a:rPr lang="en-US" dirty="0"/>
              <a:t>https://</a:t>
            </a:r>
            <a:r>
              <a:rPr lang="en-US" dirty="0" err="1"/>
              <a:t>jamanetwork.com</a:t>
            </a:r>
            <a:r>
              <a:rPr lang="en-US" dirty="0"/>
              <a:t>/journals/</a:t>
            </a:r>
            <a:r>
              <a:rPr lang="en-US" dirty="0" err="1"/>
              <a:t>jamaoncology</a:t>
            </a:r>
            <a:r>
              <a:rPr lang="en-US" dirty="0"/>
              <a:t>/</a:t>
            </a:r>
            <a:r>
              <a:rPr lang="en-US" dirty="0" err="1"/>
              <a:t>fullarticle</a:t>
            </a:r>
            <a:r>
              <a:rPr lang="en-US" dirty="0"/>
              <a:t>/2824837</a:t>
            </a:r>
          </a:p>
        </p:txBody>
      </p:sp>
    </p:spTree>
    <p:extLst>
      <p:ext uri="{BB962C8B-B14F-4D97-AF65-F5344CB8AC3E}">
        <p14:creationId xmlns:p14="http://schemas.microsoft.com/office/powerpoint/2010/main" val="467750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ED058-C4AC-82F2-BF5B-780CBDFF51D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63D1C8A-F79D-AFF4-F076-A394596838F0}"/>
              </a:ext>
            </a:extLst>
          </p:cNvPr>
          <p:cNvSpPr txBox="1"/>
          <p:nvPr/>
        </p:nvSpPr>
        <p:spPr>
          <a:xfrm>
            <a:off x="154237" y="104634"/>
            <a:ext cx="3399457" cy="707886"/>
          </a:xfrm>
          <a:prstGeom prst="rect">
            <a:avLst/>
          </a:prstGeom>
          <a:noFill/>
        </p:spPr>
        <p:txBody>
          <a:bodyPr wrap="none" rtlCol="0">
            <a:spAutoFit/>
          </a:bodyPr>
          <a:lstStyle/>
          <a:p>
            <a:r>
              <a:rPr lang="en-US" sz="4000" dirty="0"/>
              <a:t>Thyroid (AJCC)</a:t>
            </a:r>
          </a:p>
        </p:txBody>
      </p:sp>
      <p:sp>
        <p:nvSpPr>
          <p:cNvPr id="13" name="TextBox 12">
            <a:extLst>
              <a:ext uri="{FF2B5EF4-FFF2-40B4-BE49-F238E27FC236}">
                <a16:creationId xmlns:a16="http://schemas.microsoft.com/office/drawing/2014/main" id="{4A9D575D-9255-6497-69C8-437470F9C84E}"/>
              </a:ext>
            </a:extLst>
          </p:cNvPr>
          <p:cNvSpPr txBox="1"/>
          <p:nvPr/>
        </p:nvSpPr>
        <p:spPr>
          <a:xfrm>
            <a:off x="0" y="5720354"/>
            <a:ext cx="6350778" cy="923330"/>
          </a:xfrm>
          <a:prstGeom prst="rect">
            <a:avLst/>
          </a:prstGeom>
          <a:noFill/>
        </p:spPr>
        <p:txBody>
          <a:bodyPr wrap="none" rtlCol="0">
            <a:spAutoFit/>
          </a:bodyPr>
          <a:lstStyle/>
          <a:p>
            <a:r>
              <a:rPr lang="en-US" dirty="0">
                <a:hlinkClick r:id="rId2"/>
              </a:rPr>
              <a:t>https://www.pathologyoutlines.com/topic/thyroidstaging.html</a:t>
            </a:r>
            <a:endParaRPr lang="en-US" dirty="0"/>
          </a:p>
          <a:p>
            <a:endParaRPr lang="en-US" dirty="0"/>
          </a:p>
          <a:p>
            <a:r>
              <a:rPr lang="en-US" dirty="0">
                <a:hlinkClick r:id="rId3"/>
              </a:rPr>
              <a:t>https://pmc.ncbi.nlm.nih.gov/articles/PMC5467103/</a:t>
            </a:r>
            <a:endParaRPr lang="en-US" dirty="0"/>
          </a:p>
        </p:txBody>
      </p:sp>
      <p:pic>
        <p:nvPicPr>
          <p:cNvPr id="11" name="Picture 10">
            <a:extLst>
              <a:ext uri="{FF2B5EF4-FFF2-40B4-BE49-F238E27FC236}">
                <a16:creationId xmlns:a16="http://schemas.microsoft.com/office/drawing/2014/main" id="{EE43F28C-2569-313A-15EB-8B6D71CE562D}"/>
              </a:ext>
            </a:extLst>
          </p:cNvPr>
          <p:cNvPicPr>
            <a:picLocks noChangeAspect="1"/>
          </p:cNvPicPr>
          <p:nvPr/>
        </p:nvPicPr>
        <p:blipFill>
          <a:blip r:embed="rId4"/>
          <a:stretch>
            <a:fillRect/>
          </a:stretch>
        </p:blipFill>
        <p:spPr>
          <a:xfrm>
            <a:off x="0" y="812520"/>
            <a:ext cx="5529818" cy="3572198"/>
          </a:xfrm>
          <a:prstGeom prst="rect">
            <a:avLst/>
          </a:prstGeom>
        </p:spPr>
      </p:pic>
      <p:pic>
        <p:nvPicPr>
          <p:cNvPr id="15" name="Picture 14">
            <a:extLst>
              <a:ext uri="{FF2B5EF4-FFF2-40B4-BE49-F238E27FC236}">
                <a16:creationId xmlns:a16="http://schemas.microsoft.com/office/drawing/2014/main" id="{9F444DA2-BE9F-7B8B-D0FF-BE9EADD963B9}"/>
              </a:ext>
            </a:extLst>
          </p:cNvPr>
          <p:cNvPicPr>
            <a:picLocks noChangeAspect="1"/>
          </p:cNvPicPr>
          <p:nvPr/>
        </p:nvPicPr>
        <p:blipFill>
          <a:blip r:embed="rId5"/>
          <a:stretch>
            <a:fillRect/>
          </a:stretch>
        </p:blipFill>
        <p:spPr>
          <a:xfrm>
            <a:off x="6096000" y="580705"/>
            <a:ext cx="3542401" cy="3523458"/>
          </a:xfrm>
          <a:prstGeom prst="rect">
            <a:avLst/>
          </a:prstGeom>
        </p:spPr>
      </p:pic>
      <p:pic>
        <p:nvPicPr>
          <p:cNvPr id="17" name="Picture 16">
            <a:extLst>
              <a:ext uri="{FF2B5EF4-FFF2-40B4-BE49-F238E27FC236}">
                <a16:creationId xmlns:a16="http://schemas.microsoft.com/office/drawing/2014/main" id="{D9EEC9BB-E6AC-231D-8C05-722E35D8EAC5}"/>
              </a:ext>
            </a:extLst>
          </p:cNvPr>
          <p:cNvPicPr>
            <a:picLocks noChangeAspect="1"/>
          </p:cNvPicPr>
          <p:nvPr/>
        </p:nvPicPr>
        <p:blipFill>
          <a:blip r:embed="rId6"/>
          <a:stretch>
            <a:fillRect/>
          </a:stretch>
        </p:blipFill>
        <p:spPr>
          <a:xfrm>
            <a:off x="6547228" y="4433458"/>
            <a:ext cx="5049982" cy="1748561"/>
          </a:xfrm>
          <a:prstGeom prst="rect">
            <a:avLst/>
          </a:prstGeom>
        </p:spPr>
      </p:pic>
    </p:spTree>
    <p:extLst>
      <p:ext uri="{BB962C8B-B14F-4D97-AF65-F5344CB8AC3E}">
        <p14:creationId xmlns:p14="http://schemas.microsoft.com/office/powerpoint/2010/main" val="394964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81FC1-5B63-916E-99A8-DA5EB343FB3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02D7A47-FB90-84E3-87CC-22FFCA5CD8FE}"/>
              </a:ext>
            </a:extLst>
          </p:cNvPr>
          <p:cNvSpPr txBox="1"/>
          <p:nvPr/>
        </p:nvSpPr>
        <p:spPr>
          <a:xfrm>
            <a:off x="154237" y="104634"/>
            <a:ext cx="5737468" cy="707886"/>
          </a:xfrm>
          <a:prstGeom prst="rect">
            <a:avLst/>
          </a:prstGeom>
          <a:noFill/>
        </p:spPr>
        <p:txBody>
          <a:bodyPr wrap="none" rtlCol="0">
            <a:spAutoFit/>
          </a:bodyPr>
          <a:lstStyle/>
          <a:p>
            <a:r>
              <a:rPr lang="en-US" sz="4000" dirty="0"/>
              <a:t>Mucosal melanoma H&amp;N</a:t>
            </a:r>
          </a:p>
        </p:txBody>
      </p:sp>
      <p:sp>
        <p:nvSpPr>
          <p:cNvPr id="13" name="TextBox 12">
            <a:extLst>
              <a:ext uri="{FF2B5EF4-FFF2-40B4-BE49-F238E27FC236}">
                <a16:creationId xmlns:a16="http://schemas.microsoft.com/office/drawing/2014/main" id="{1B4240DF-B8FA-8508-80C1-53393831AF3A}"/>
              </a:ext>
            </a:extLst>
          </p:cNvPr>
          <p:cNvSpPr txBox="1"/>
          <p:nvPr/>
        </p:nvSpPr>
        <p:spPr>
          <a:xfrm>
            <a:off x="0" y="5720354"/>
            <a:ext cx="9358844" cy="646331"/>
          </a:xfrm>
          <a:prstGeom prst="rect">
            <a:avLst/>
          </a:prstGeom>
          <a:noFill/>
        </p:spPr>
        <p:txBody>
          <a:bodyPr wrap="none" rtlCol="0">
            <a:spAutoFit/>
          </a:bodyPr>
          <a:lstStyle/>
          <a:p>
            <a:r>
              <a:rPr lang="en-US" dirty="0">
                <a:hlinkClick r:id="rId2"/>
              </a:rPr>
              <a:t>https://radiopaedia.org/articles/mucosal-melanoma-of-the-head-and-neck-staging?lang=us</a:t>
            </a:r>
            <a:endParaRPr lang="en-US" dirty="0"/>
          </a:p>
          <a:p>
            <a:r>
              <a:rPr lang="en-US" dirty="0">
                <a:hlinkClick r:id="rId3"/>
              </a:rPr>
              <a:t>https://www.pathologyoutlines.com/topic/oralcavitystagingmucosalmelanoma.html</a:t>
            </a:r>
            <a:endParaRPr lang="en-US" dirty="0"/>
          </a:p>
        </p:txBody>
      </p:sp>
      <p:pic>
        <p:nvPicPr>
          <p:cNvPr id="3" name="Picture 2">
            <a:extLst>
              <a:ext uri="{FF2B5EF4-FFF2-40B4-BE49-F238E27FC236}">
                <a16:creationId xmlns:a16="http://schemas.microsoft.com/office/drawing/2014/main" id="{1A7F6306-8FEF-CC4E-A286-9B5412DCD5CD}"/>
              </a:ext>
            </a:extLst>
          </p:cNvPr>
          <p:cNvPicPr>
            <a:picLocks noChangeAspect="1"/>
          </p:cNvPicPr>
          <p:nvPr/>
        </p:nvPicPr>
        <p:blipFill>
          <a:blip r:embed="rId4"/>
          <a:stretch>
            <a:fillRect/>
          </a:stretch>
        </p:blipFill>
        <p:spPr>
          <a:xfrm>
            <a:off x="154237" y="1626591"/>
            <a:ext cx="4935837" cy="3279691"/>
          </a:xfrm>
          <a:prstGeom prst="rect">
            <a:avLst/>
          </a:prstGeom>
          <a:ln>
            <a:solidFill>
              <a:schemeClr val="tx1"/>
            </a:solidFill>
          </a:ln>
        </p:spPr>
      </p:pic>
      <p:pic>
        <p:nvPicPr>
          <p:cNvPr id="6" name="Picture 5">
            <a:extLst>
              <a:ext uri="{FF2B5EF4-FFF2-40B4-BE49-F238E27FC236}">
                <a16:creationId xmlns:a16="http://schemas.microsoft.com/office/drawing/2014/main" id="{E574AE4D-19ED-1CF9-42AE-69D75D76088F}"/>
              </a:ext>
            </a:extLst>
          </p:cNvPr>
          <p:cNvPicPr>
            <a:picLocks noChangeAspect="1"/>
          </p:cNvPicPr>
          <p:nvPr/>
        </p:nvPicPr>
        <p:blipFill>
          <a:blip r:embed="rId5"/>
          <a:stretch>
            <a:fillRect/>
          </a:stretch>
        </p:blipFill>
        <p:spPr>
          <a:xfrm>
            <a:off x="5486555" y="1789154"/>
            <a:ext cx="2660650" cy="1101194"/>
          </a:xfrm>
          <a:prstGeom prst="rect">
            <a:avLst/>
          </a:prstGeom>
          <a:ln>
            <a:solidFill>
              <a:schemeClr val="tx1"/>
            </a:solidFill>
          </a:ln>
        </p:spPr>
      </p:pic>
      <p:pic>
        <p:nvPicPr>
          <p:cNvPr id="8" name="Picture 7">
            <a:extLst>
              <a:ext uri="{FF2B5EF4-FFF2-40B4-BE49-F238E27FC236}">
                <a16:creationId xmlns:a16="http://schemas.microsoft.com/office/drawing/2014/main" id="{7204F800-EBC9-E14E-D365-DD09E6298F30}"/>
              </a:ext>
            </a:extLst>
          </p:cNvPr>
          <p:cNvPicPr>
            <a:picLocks noChangeAspect="1"/>
          </p:cNvPicPr>
          <p:nvPr/>
        </p:nvPicPr>
        <p:blipFill>
          <a:blip r:embed="rId6"/>
          <a:stretch>
            <a:fillRect/>
          </a:stretch>
        </p:blipFill>
        <p:spPr>
          <a:xfrm>
            <a:off x="5486555" y="3025672"/>
            <a:ext cx="4630215" cy="1260411"/>
          </a:xfrm>
          <a:prstGeom prst="rect">
            <a:avLst/>
          </a:prstGeom>
          <a:ln>
            <a:solidFill>
              <a:schemeClr val="tx1"/>
            </a:solidFill>
          </a:ln>
        </p:spPr>
      </p:pic>
      <p:pic>
        <p:nvPicPr>
          <p:cNvPr id="10" name="Picture 9">
            <a:extLst>
              <a:ext uri="{FF2B5EF4-FFF2-40B4-BE49-F238E27FC236}">
                <a16:creationId xmlns:a16="http://schemas.microsoft.com/office/drawing/2014/main" id="{5004398D-DBF7-19F0-FE54-FC41AE6FD16E}"/>
              </a:ext>
            </a:extLst>
          </p:cNvPr>
          <p:cNvPicPr>
            <a:picLocks noChangeAspect="1"/>
          </p:cNvPicPr>
          <p:nvPr/>
        </p:nvPicPr>
        <p:blipFill>
          <a:blip r:embed="rId7"/>
          <a:stretch>
            <a:fillRect/>
          </a:stretch>
        </p:blipFill>
        <p:spPr>
          <a:xfrm>
            <a:off x="10283786" y="1789154"/>
            <a:ext cx="1625927" cy="2399145"/>
          </a:xfrm>
          <a:prstGeom prst="rect">
            <a:avLst/>
          </a:prstGeom>
          <a:ln>
            <a:solidFill>
              <a:schemeClr val="tx1"/>
            </a:solidFill>
          </a:ln>
        </p:spPr>
      </p:pic>
    </p:spTree>
    <p:extLst>
      <p:ext uri="{BB962C8B-B14F-4D97-AF65-F5344CB8AC3E}">
        <p14:creationId xmlns:p14="http://schemas.microsoft.com/office/powerpoint/2010/main" val="108285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9F183-C6A7-D8AF-A475-F0E6D33D504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80C246C-472E-6281-68C3-5BFD585C3D79}"/>
              </a:ext>
            </a:extLst>
          </p:cNvPr>
          <p:cNvSpPr txBox="1"/>
          <p:nvPr/>
        </p:nvSpPr>
        <p:spPr>
          <a:xfrm>
            <a:off x="154237" y="104634"/>
            <a:ext cx="6268896" cy="707886"/>
          </a:xfrm>
          <a:prstGeom prst="rect">
            <a:avLst/>
          </a:prstGeom>
          <a:noFill/>
        </p:spPr>
        <p:txBody>
          <a:bodyPr wrap="none" rtlCol="0">
            <a:spAutoFit/>
          </a:bodyPr>
          <a:lstStyle/>
          <a:p>
            <a:r>
              <a:rPr lang="en-US" sz="4000" dirty="0"/>
              <a:t>Cutaneous carcinoma H&amp;N</a:t>
            </a:r>
          </a:p>
        </p:txBody>
      </p:sp>
      <p:sp>
        <p:nvSpPr>
          <p:cNvPr id="13" name="TextBox 12">
            <a:extLst>
              <a:ext uri="{FF2B5EF4-FFF2-40B4-BE49-F238E27FC236}">
                <a16:creationId xmlns:a16="http://schemas.microsoft.com/office/drawing/2014/main" id="{E3C4A284-90AD-49CE-B582-C7BE8289EF90}"/>
              </a:ext>
            </a:extLst>
          </p:cNvPr>
          <p:cNvSpPr txBox="1"/>
          <p:nvPr/>
        </p:nvSpPr>
        <p:spPr>
          <a:xfrm>
            <a:off x="4646" y="6047914"/>
            <a:ext cx="9749464" cy="646331"/>
          </a:xfrm>
          <a:prstGeom prst="rect">
            <a:avLst/>
          </a:prstGeom>
          <a:noFill/>
        </p:spPr>
        <p:txBody>
          <a:bodyPr wrap="none" rtlCol="0">
            <a:spAutoFit/>
          </a:bodyPr>
          <a:lstStyle/>
          <a:p>
            <a:r>
              <a:rPr lang="en-US" dirty="0">
                <a:hlinkClick r:id="rId2"/>
              </a:rPr>
              <a:t>https://radiopaedia.org/articles/cutaneous-carcinoma-of-the-head-and-neck-staging?lang=us</a:t>
            </a:r>
            <a:endParaRPr lang="en-US" dirty="0"/>
          </a:p>
          <a:p>
            <a:r>
              <a:rPr lang="en-US" dirty="0">
                <a:hlinkClick r:id="rId3"/>
              </a:rPr>
              <a:t>https://www.pathologyoutlines.com/topic/skintumornonmelanocyticstagingskincarcinoma.html</a:t>
            </a:r>
            <a:endParaRPr lang="en-US" dirty="0"/>
          </a:p>
        </p:txBody>
      </p:sp>
      <p:pic>
        <p:nvPicPr>
          <p:cNvPr id="3" name="Picture 2">
            <a:extLst>
              <a:ext uri="{FF2B5EF4-FFF2-40B4-BE49-F238E27FC236}">
                <a16:creationId xmlns:a16="http://schemas.microsoft.com/office/drawing/2014/main" id="{4F606693-25A3-D7DD-8688-89B097D9CF72}"/>
              </a:ext>
            </a:extLst>
          </p:cNvPr>
          <p:cNvPicPr>
            <a:picLocks noChangeAspect="1"/>
          </p:cNvPicPr>
          <p:nvPr/>
        </p:nvPicPr>
        <p:blipFill>
          <a:blip r:embed="rId4"/>
          <a:stretch>
            <a:fillRect/>
          </a:stretch>
        </p:blipFill>
        <p:spPr>
          <a:xfrm>
            <a:off x="154237" y="1570201"/>
            <a:ext cx="4617516" cy="3717597"/>
          </a:xfrm>
          <a:prstGeom prst="rect">
            <a:avLst/>
          </a:prstGeom>
          <a:ln>
            <a:solidFill>
              <a:schemeClr val="tx1"/>
            </a:solidFill>
          </a:ln>
        </p:spPr>
      </p:pic>
      <p:pic>
        <p:nvPicPr>
          <p:cNvPr id="6" name="Picture 5">
            <a:extLst>
              <a:ext uri="{FF2B5EF4-FFF2-40B4-BE49-F238E27FC236}">
                <a16:creationId xmlns:a16="http://schemas.microsoft.com/office/drawing/2014/main" id="{E1016760-3910-E9D0-6D39-A8FD62CA65BC}"/>
              </a:ext>
            </a:extLst>
          </p:cNvPr>
          <p:cNvPicPr>
            <a:picLocks noChangeAspect="1"/>
          </p:cNvPicPr>
          <p:nvPr/>
        </p:nvPicPr>
        <p:blipFill>
          <a:blip r:embed="rId5"/>
          <a:stretch>
            <a:fillRect/>
          </a:stretch>
        </p:blipFill>
        <p:spPr>
          <a:xfrm>
            <a:off x="5226050" y="812520"/>
            <a:ext cx="3802346" cy="2270501"/>
          </a:xfrm>
          <a:prstGeom prst="rect">
            <a:avLst/>
          </a:prstGeom>
          <a:ln>
            <a:solidFill>
              <a:schemeClr val="tx1"/>
            </a:solidFill>
          </a:ln>
        </p:spPr>
      </p:pic>
      <p:pic>
        <p:nvPicPr>
          <p:cNvPr id="8" name="Picture 7">
            <a:extLst>
              <a:ext uri="{FF2B5EF4-FFF2-40B4-BE49-F238E27FC236}">
                <a16:creationId xmlns:a16="http://schemas.microsoft.com/office/drawing/2014/main" id="{B7D4CD44-503A-86E3-5AE9-8E24B41C4283}"/>
              </a:ext>
            </a:extLst>
          </p:cNvPr>
          <p:cNvPicPr>
            <a:picLocks noChangeAspect="1"/>
          </p:cNvPicPr>
          <p:nvPr/>
        </p:nvPicPr>
        <p:blipFill>
          <a:blip r:embed="rId6"/>
          <a:stretch>
            <a:fillRect/>
          </a:stretch>
        </p:blipFill>
        <p:spPr>
          <a:xfrm>
            <a:off x="5226050" y="3148263"/>
            <a:ext cx="3989644" cy="2537494"/>
          </a:xfrm>
          <a:prstGeom prst="rect">
            <a:avLst/>
          </a:prstGeom>
          <a:ln>
            <a:solidFill>
              <a:schemeClr val="tx1"/>
            </a:solidFill>
          </a:ln>
        </p:spPr>
      </p:pic>
      <p:pic>
        <p:nvPicPr>
          <p:cNvPr id="10" name="Picture 9">
            <a:extLst>
              <a:ext uri="{FF2B5EF4-FFF2-40B4-BE49-F238E27FC236}">
                <a16:creationId xmlns:a16="http://schemas.microsoft.com/office/drawing/2014/main" id="{7D09DA39-09D1-A2E1-3996-1FAE42F1CB7A}"/>
              </a:ext>
            </a:extLst>
          </p:cNvPr>
          <p:cNvPicPr>
            <a:picLocks noChangeAspect="1"/>
          </p:cNvPicPr>
          <p:nvPr/>
        </p:nvPicPr>
        <p:blipFill>
          <a:blip r:embed="rId7"/>
          <a:stretch>
            <a:fillRect/>
          </a:stretch>
        </p:blipFill>
        <p:spPr>
          <a:xfrm>
            <a:off x="9112250" y="1047672"/>
            <a:ext cx="3222353" cy="900098"/>
          </a:xfrm>
          <a:prstGeom prst="rect">
            <a:avLst/>
          </a:prstGeom>
          <a:ln>
            <a:solidFill>
              <a:schemeClr val="tx1"/>
            </a:solidFill>
          </a:ln>
        </p:spPr>
      </p:pic>
      <p:pic>
        <p:nvPicPr>
          <p:cNvPr id="12" name="Picture 11">
            <a:extLst>
              <a:ext uri="{FF2B5EF4-FFF2-40B4-BE49-F238E27FC236}">
                <a16:creationId xmlns:a16="http://schemas.microsoft.com/office/drawing/2014/main" id="{D8616C97-B11C-ADFA-9D98-794FFE8B288D}"/>
              </a:ext>
            </a:extLst>
          </p:cNvPr>
          <p:cNvPicPr>
            <a:picLocks noChangeAspect="1"/>
          </p:cNvPicPr>
          <p:nvPr/>
        </p:nvPicPr>
        <p:blipFill>
          <a:blip r:embed="rId8"/>
          <a:stretch>
            <a:fillRect/>
          </a:stretch>
        </p:blipFill>
        <p:spPr>
          <a:xfrm>
            <a:off x="9843566" y="2482470"/>
            <a:ext cx="1640195" cy="3203287"/>
          </a:xfrm>
          <a:prstGeom prst="rect">
            <a:avLst/>
          </a:prstGeom>
          <a:ln>
            <a:solidFill>
              <a:schemeClr val="tx1"/>
            </a:solidFill>
          </a:ln>
        </p:spPr>
      </p:pic>
    </p:spTree>
    <p:extLst>
      <p:ext uri="{BB962C8B-B14F-4D97-AF65-F5344CB8AC3E}">
        <p14:creationId xmlns:p14="http://schemas.microsoft.com/office/powerpoint/2010/main" val="1129351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C8628-ADCB-0BF5-017D-80AE583D8F1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33B93D7-4D00-3377-D9CF-B710FA840C9E}"/>
              </a:ext>
            </a:extLst>
          </p:cNvPr>
          <p:cNvSpPr txBox="1"/>
          <p:nvPr/>
        </p:nvSpPr>
        <p:spPr>
          <a:xfrm>
            <a:off x="154237" y="104634"/>
            <a:ext cx="3875805" cy="707886"/>
          </a:xfrm>
          <a:prstGeom prst="rect">
            <a:avLst/>
          </a:prstGeom>
          <a:noFill/>
        </p:spPr>
        <p:txBody>
          <a:bodyPr wrap="none" rtlCol="0">
            <a:spAutoFit/>
          </a:bodyPr>
          <a:lstStyle/>
          <a:p>
            <a:r>
              <a:rPr lang="en-US" sz="4000" dirty="0"/>
              <a:t>Sarcoma of H&amp;N</a:t>
            </a:r>
          </a:p>
        </p:txBody>
      </p:sp>
      <p:sp>
        <p:nvSpPr>
          <p:cNvPr id="13" name="TextBox 12">
            <a:extLst>
              <a:ext uri="{FF2B5EF4-FFF2-40B4-BE49-F238E27FC236}">
                <a16:creationId xmlns:a16="http://schemas.microsoft.com/office/drawing/2014/main" id="{C2C34D3B-195D-E3E9-3490-108FD2F3F7EF}"/>
              </a:ext>
            </a:extLst>
          </p:cNvPr>
          <p:cNvSpPr txBox="1"/>
          <p:nvPr/>
        </p:nvSpPr>
        <p:spPr>
          <a:xfrm>
            <a:off x="4646" y="6047914"/>
            <a:ext cx="184731" cy="369332"/>
          </a:xfrm>
          <a:prstGeom prst="rect">
            <a:avLst/>
          </a:prstGeom>
          <a:noFill/>
        </p:spPr>
        <p:txBody>
          <a:bodyPr wrap="none" rtlCol="0">
            <a:spAutoFit/>
          </a:bodyPr>
          <a:lstStyle/>
          <a:p>
            <a:endParaRPr lang="en-US" dirty="0"/>
          </a:p>
        </p:txBody>
      </p:sp>
      <p:pic>
        <p:nvPicPr>
          <p:cNvPr id="6" name="Picture 5">
            <a:extLst>
              <a:ext uri="{FF2B5EF4-FFF2-40B4-BE49-F238E27FC236}">
                <a16:creationId xmlns:a16="http://schemas.microsoft.com/office/drawing/2014/main" id="{8FAE8975-EF1F-7C75-B606-FE9D2C347C81}"/>
              </a:ext>
            </a:extLst>
          </p:cNvPr>
          <p:cNvPicPr>
            <a:picLocks noChangeAspect="1"/>
          </p:cNvPicPr>
          <p:nvPr/>
        </p:nvPicPr>
        <p:blipFill>
          <a:blip r:embed="rId2"/>
          <a:stretch>
            <a:fillRect/>
          </a:stretch>
        </p:blipFill>
        <p:spPr>
          <a:xfrm>
            <a:off x="97011" y="966353"/>
            <a:ext cx="3330739" cy="3595255"/>
          </a:xfrm>
          <a:prstGeom prst="rect">
            <a:avLst/>
          </a:prstGeom>
          <a:ln>
            <a:solidFill>
              <a:schemeClr val="accent1"/>
            </a:solidFill>
          </a:ln>
        </p:spPr>
      </p:pic>
      <p:pic>
        <p:nvPicPr>
          <p:cNvPr id="8" name="Picture 7">
            <a:extLst>
              <a:ext uri="{FF2B5EF4-FFF2-40B4-BE49-F238E27FC236}">
                <a16:creationId xmlns:a16="http://schemas.microsoft.com/office/drawing/2014/main" id="{F9CEAD1F-4072-77A8-CE19-D3F0FBBCC0BE}"/>
              </a:ext>
            </a:extLst>
          </p:cNvPr>
          <p:cNvPicPr>
            <a:picLocks noChangeAspect="1"/>
          </p:cNvPicPr>
          <p:nvPr/>
        </p:nvPicPr>
        <p:blipFill>
          <a:blip r:embed="rId3"/>
          <a:stretch>
            <a:fillRect/>
          </a:stretch>
        </p:blipFill>
        <p:spPr>
          <a:xfrm>
            <a:off x="4163869" y="966353"/>
            <a:ext cx="3421495" cy="1543778"/>
          </a:xfrm>
          <a:prstGeom prst="rect">
            <a:avLst/>
          </a:prstGeom>
          <a:ln>
            <a:solidFill>
              <a:schemeClr val="accent1"/>
            </a:solidFill>
          </a:ln>
        </p:spPr>
      </p:pic>
      <p:pic>
        <p:nvPicPr>
          <p:cNvPr id="10" name="Picture 9">
            <a:extLst>
              <a:ext uri="{FF2B5EF4-FFF2-40B4-BE49-F238E27FC236}">
                <a16:creationId xmlns:a16="http://schemas.microsoft.com/office/drawing/2014/main" id="{A02CDA56-DEF5-46E5-E5A0-FB92C0DBF0D3}"/>
              </a:ext>
            </a:extLst>
          </p:cNvPr>
          <p:cNvPicPr>
            <a:picLocks noChangeAspect="1"/>
          </p:cNvPicPr>
          <p:nvPr/>
        </p:nvPicPr>
        <p:blipFill>
          <a:blip r:embed="rId4"/>
          <a:stretch>
            <a:fillRect/>
          </a:stretch>
        </p:blipFill>
        <p:spPr>
          <a:xfrm>
            <a:off x="4163869" y="2763981"/>
            <a:ext cx="4250491" cy="1543778"/>
          </a:xfrm>
          <a:prstGeom prst="rect">
            <a:avLst/>
          </a:prstGeom>
          <a:ln>
            <a:solidFill>
              <a:schemeClr val="accent1"/>
            </a:solidFill>
          </a:ln>
        </p:spPr>
      </p:pic>
      <p:pic>
        <p:nvPicPr>
          <p:cNvPr id="12" name="Picture 11">
            <a:extLst>
              <a:ext uri="{FF2B5EF4-FFF2-40B4-BE49-F238E27FC236}">
                <a16:creationId xmlns:a16="http://schemas.microsoft.com/office/drawing/2014/main" id="{A8F78C2F-AC23-6887-3690-F08EBA6D8357}"/>
              </a:ext>
            </a:extLst>
          </p:cNvPr>
          <p:cNvPicPr>
            <a:picLocks noChangeAspect="1"/>
          </p:cNvPicPr>
          <p:nvPr/>
        </p:nvPicPr>
        <p:blipFill>
          <a:blip r:embed="rId5"/>
          <a:stretch>
            <a:fillRect/>
          </a:stretch>
        </p:blipFill>
        <p:spPr>
          <a:xfrm>
            <a:off x="9068378" y="1514913"/>
            <a:ext cx="1906569" cy="1990435"/>
          </a:xfrm>
          <a:prstGeom prst="rect">
            <a:avLst/>
          </a:prstGeom>
          <a:ln>
            <a:solidFill>
              <a:schemeClr val="accent1"/>
            </a:solidFill>
          </a:ln>
        </p:spPr>
      </p:pic>
      <p:sp>
        <p:nvSpPr>
          <p:cNvPr id="15" name="TextBox 14">
            <a:extLst>
              <a:ext uri="{FF2B5EF4-FFF2-40B4-BE49-F238E27FC236}">
                <a16:creationId xmlns:a16="http://schemas.microsoft.com/office/drawing/2014/main" id="{398F8408-9576-D616-7AC9-118B8588AC66}"/>
              </a:ext>
            </a:extLst>
          </p:cNvPr>
          <p:cNvSpPr txBox="1"/>
          <p:nvPr/>
        </p:nvSpPr>
        <p:spPr>
          <a:xfrm>
            <a:off x="0" y="5934670"/>
            <a:ext cx="7834745" cy="923330"/>
          </a:xfrm>
          <a:prstGeom prst="rect">
            <a:avLst/>
          </a:prstGeom>
          <a:noFill/>
        </p:spPr>
        <p:txBody>
          <a:bodyPr wrap="square">
            <a:spAutoFit/>
          </a:bodyPr>
          <a:lstStyle/>
          <a:p>
            <a:r>
              <a:rPr lang="en-US" dirty="0">
                <a:hlinkClick r:id="rId6"/>
              </a:rPr>
              <a:t>https://emedicine.medscape.com/article/2006584-overview</a:t>
            </a:r>
            <a:endParaRPr lang="en-US" dirty="0"/>
          </a:p>
          <a:p>
            <a:r>
              <a:rPr lang="en-US" dirty="0">
                <a:hlinkClick r:id="rId7"/>
              </a:rPr>
              <a:t>https://onlinelibrary.wiley.com/doi/10.1002/hed.25701</a:t>
            </a:r>
          </a:p>
          <a:p>
            <a:r>
              <a:rPr lang="en-US" dirty="0">
                <a:hlinkClick r:id="rId7"/>
              </a:rPr>
              <a:t>https://www.redjournal.org/article/S0360-3016(23)05001-0/fulltext</a:t>
            </a:r>
            <a:endParaRPr lang="en-US" dirty="0"/>
          </a:p>
        </p:txBody>
      </p:sp>
      <p:sp>
        <p:nvSpPr>
          <p:cNvPr id="16" name="TextBox 15">
            <a:extLst>
              <a:ext uri="{FF2B5EF4-FFF2-40B4-BE49-F238E27FC236}">
                <a16:creationId xmlns:a16="http://schemas.microsoft.com/office/drawing/2014/main" id="{B5CC770C-BFA0-26AA-32C9-D6392AD1B7DC}"/>
              </a:ext>
            </a:extLst>
          </p:cNvPr>
          <p:cNvSpPr txBox="1"/>
          <p:nvPr/>
        </p:nvSpPr>
        <p:spPr>
          <a:xfrm>
            <a:off x="6713238" y="4757491"/>
            <a:ext cx="5478762" cy="1477328"/>
          </a:xfrm>
          <a:prstGeom prst="rect">
            <a:avLst/>
          </a:prstGeom>
          <a:noFill/>
        </p:spPr>
        <p:txBody>
          <a:bodyPr wrap="square" rtlCol="0">
            <a:spAutoFit/>
          </a:bodyPr>
          <a:lstStyle/>
          <a:p>
            <a:r>
              <a:rPr lang="en-US" dirty="0"/>
              <a:t>Cates (2019) and Salunkhe et al. (2023) have proposed prognostic staging groups, but none have been endorsed by the AJCC. Please disclose this to users and do not attempt to produce prognostic stage.</a:t>
            </a:r>
          </a:p>
        </p:txBody>
      </p:sp>
    </p:spTree>
    <p:extLst>
      <p:ext uri="{BB962C8B-B14F-4D97-AF65-F5344CB8AC3E}">
        <p14:creationId xmlns:p14="http://schemas.microsoft.com/office/powerpoint/2010/main" val="8093240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243</TotalTime>
  <Words>531</Words>
  <Application>Microsoft Macintosh PowerPoint</Application>
  <PresentationFormat>Widescreen</PresentationFormat>
  <Paragraphs>39</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instructions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Olmstead, Jack</dc:creator>
  <cp:lastModifiedBy>Olmstead, Jack</cp:lastModifiedBy>
  <cp:revision>25</cp:revision>
  <dcterms:created xsi:type="dcterms:W3CDTF">2026-08-06T14:36:56Z</dcterms:created>
  <dcterms:modified xsi:type="dcterms:W3CDTF">2026-08-12T13:05:33Z</dcterms:modified>
</cp:coreProperties>
</file>