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7" r:id="rId2"/>
    <p:sldId id="260" r:id="rId3"/>
    <p:sldId id="256" r:id="rId4"/>
    <p:sldId id="259" r:id="rId5"/>
    <p:sldId id="258" r:id="rId6"/>
    <p:sldId id="262" r:id="rId7"/>
    <p:sldId id="264" r:id="rId8"/>
    <p:sldId id="263" r:id="rId9"/>
    <p:sldId id="265" r:id="rId10"/>
    <p:sldId id="266" r:id="rId11"/>
    <p:sldId id="26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6301"/>
  </p:normalViewPr>
  <p:slideViewPr>
    <p:cSldViewPr snapToGrid="0">
      <p:cViewPr varScale="1">
        <p:scale>
          <a:sx n="123" d="100"/>
          <a:sy n="123" d="100"/>
        </p:scale>
        <p:origin x="6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9FE7E8-1413-B32B-7996-654BCD6BFB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7339A2-E77A-6510-BB12-E7AD648348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C104E5-B333-41BF-814B-8447B303D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6D8D7-1006-9340-8393-585DE1E9BC7B}" type="datetimeFigureOut">
              <a:rPr lang="en-US" smtClean="0"/>
              <a:t>8/9/26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16A635-A537-E230-8D74-924E736B1B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DBC13A-0BB8-4C63-D1FC-A1C4B22C6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287E0-D167-634B-9EC8-AA60DB6728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8856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E259C-1152-767B-699A-C84B05039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8562F-00B9-2209-7635-CB22C7B86A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541FDB-C139-B5AD-2712-3E37FBD82D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6D8D7-1006-9340-8393-585DE1E9BC7B}" type="datetimeFigureOut">
              <a:rPr lang="en-US" smtClean="0"/>
              <a:t>8/9/26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8E848B-B5CC-5387-5795-EF83727472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0ABC92-33AA-6D15-4EB4-09C67661C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287E0-D167-634B-9EC8-AA60DB6728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795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DE433-B75C-CAEC-E7E1-EC359C3A6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BD777A-8BBA-0200-7ECA-0B077A6D23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74EDAE-5F9E-0DC2-A1F0-E54094F173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6D8D7-1006-9340-8393-585DE1E9BC7B}" type="datetimeFigureOut">
              <a:rPr lang="en-US" smtClean="0"/>
              <a:t>8/9/26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3757DF-D5E7-9119-7C9E-4006AF1EC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560635-5B9E-0129-AE48-2E0AFA0BC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287E0-D167-634B-9EC8-AA60DB6728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819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46998-820F-AFE3-6613-5B34B85B7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3040FB-BFBC-C483-9520-2EBF2E1793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52D27E-D6DF-3F22-EB6B-AC52E7F8B7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95BB2F-BDA3-7D8C-32C5-CB75938AD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6D8D7-1006-9340-8393-585DE1E9BC7B}" type="datetimeFigureOut">
              <a:rPr lang="en-US" smtClean="0"/>
              <a:t>8/9/26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159C8F-FC23-740A-505F-C2848734D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D24C7A-94ED-EDDC-B5E7-8A0FD534E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287E0-D167-634B-9EC8-AA60DB6728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4663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24F39-ED6D-276A-DEC6-8E609A1D7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19ACF8-612A-0F05-6428-830ED1742C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4CBBFF-0A20-E0AB-EB69-8004AC6929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E6F8DC-B49A-AF00-E9BD-8D56E54498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91657E-259E-6EB8-E64D-1F68BDD46B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D51AC73-4FD3-A126-AA9A-1A7B5925B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6D8D7-1006-9340-8393-585DE1E9BC7B}" type="datetimeFigureOut">
              <a:rPr lang="en-US" smtClean="0"/>
              <a:t>8/9/26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0329C82-6B6F-166C-170E-527425E51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0E5B4D6-0C80-8826-EAD0-2685A64DB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287E0-D167-634B-9EC8-AA60DB6728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3433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65A5-171A-F3BA-F50C-DF88C24B3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3E889E-0149-C98D-C7A9-FE52CDAF6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6D8D7-1006-9340-8393-585DE1E9BC7B}" type="datetimeFigureOut">
              <a:rPr lang="en-US" smtClean="0"/>
              <a:t>8/9/26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3174BFF-39C2-2AB4-B22D-95D4937A5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02FF65-CE8D-83E7-6597-D1BBB25A3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287E0-D167-634B-9EC8-AA60DB6728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8671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58940D-C847-8041-AFC4-86F4AB633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6D8D7-1006-9340-8393-585DE1E9BC7B}" type="datetimeFigureOut">
              <a:rPr lang="en-US" smtClean="0"/>
              <a:t>8/9/26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F993C5-E647-DAF4-6033-98C7BAFE67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DC35E-D628-E24C-F68F-E240A13BB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287E0-D167-634B-9EC8-AA60DB6728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253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83FD4-4075-C2E9-0A71-A69BFAEDA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1102CA-232C-C231-376A-7D1ACED89E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AA61A9-06D4-D374-2740-9D7033D540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17A4BD-D9F2-FFD9-D699-39F9F9463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6D8D7-1006-9340-8393-585DE1E9BC7B}" type="datetimeFigureOut">
              <a:rPr lang="en-US" smtClean="0"/>
              <a:t>8/9/26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2F1B8F-5810-E1D6-984E-5320BD698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68DEC1-12B0-2292-5DF3-BBC69F6DA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287E0-D167-634B-9EC8-AA60DB6728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5916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F5615-97D4-AAB2-F2AA-7B5B03141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CBD43A-0889-0C10-CFB7-DB803B85F6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7F8B58-9C87-A70A-F9B1-7466493CAE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B3BD45-EEF5-13C7-3A6D-8BB9D926A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6D8D7-1006-9340-8393-585DE1E9BC7B}" type="datetimeFigureOut">
              <a:rPr lang="en-US" smtClean="0"/>
              <a:t>8/9/26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C2A7A1-D4B9-07C6-3E6F-5B47C0C15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C403B3-865E-031D-7BAF-3B11F2384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287E0-D167-634B-9EC8-AA60DB6728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81955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C429A-0F98-5F66-F86B-3E75836851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FC5F7E-7E45-2EB2-92B6-F4A13889F4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11B6F3-426D-8F7C-70E7-588F68584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6D8D7-1006-9340-8393-585DE1E9BC7B}" type="datetimeFigureOut">
              <a:rPr lang="en-US" smtClean="0"/>
              <a:t>8/9/26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70423D-26FE-C359-61B5-8CA33D16F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1AE8AD-CFB1-2259-8E6A-5CAB91F1F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287E0-D167-634B-9EC8-AA60DB6728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097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273654-E893-F7BA-2C3D-EEE0853F80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8E70E5-A6C4-F1D1-9A1E-12D8AC609A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D10463-DB55-0373-12C6-3B24B32593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6D8D7-1006-9340-8393-585DE1E9BC7B}" type="datetimeFigureOut">
              <a:rPr lang="en-US" smtClean="0"/>
              <a:t>8/9/26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4EB11-E0A9-5948-32DF-C3A8B7C2F4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721B40-A31F-F057-DFE2-E672A5E8F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287E0-D167-634B-9EC8-AA60DB6728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4633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DEACB6A-3B11-5CB3-15AD-D08C10B062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52416A-9D8B-2BF7-D14E-F80D4BA637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6D7DBE-9BFA-A61C-BF87-0197100898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66D8D7-1006-9340-8393-585DE1E9BC7B}" type="datetimeFigureOut">
              <a:rPr lang="en-US" smtClean="0"/>
              <a:t>8/9/26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E037C0-6CF3-5F83-BD5C-22C42FDA43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5919EF-38BB-BCF6-9BE5-7AA8400C50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4287E0-D167-634B-9EC8-AA60DB6728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4155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pmc.ncbi.nlm.nih.gov/articles/PMC5467103/" TargetMode="External"/><Relationship Id="rId2" Type="http://schemas.openxmlformats.org/officeDocument/2006/relationships/hyperlink" Target="https://www.pathologyoutlines.com/topic/thyroidstaging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athologyoutlines.com/topic/oralcavitystagingmucosalmelanoma.html" TargetMode="External"/><Relationship Id="rId7" Type="http://schemas.openxmlformats.org/officeDocument/2006/relationships/image" Target="../media/image21.png"/><Relationship Id="rId2" Type="http://schemas.openxmlformats.org/officeDocument/2006/relationships/hyperlink" Target="https://radiopaedia.org/articles/mucosal-melanoma-of-the-head-and-neck-staging?lang=us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hyperlink" Target="https://www.pathologyoutlines.com/topic/skintumornonmelanocyticstagingskincarcinoma.html" TargetMode="External"/><Relationship Id="rId7" Type="http://schemas.openxmlformats.org/officeDocument/2006/relationships/image" Target="../media/image25.png"/><Relationship Id="rId2" Type="http://schemas.openxmlformats.org/officeDocument/2006/relationships/hyperlink" Target="https://radiopaedia.org/articles/cutaneous-carcinoma-of-the-head-and-neck-staging?lang=us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FDF31-DC5B-6B88-F21E-CB52FE00A7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instructions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4CD265-1D70-3EE2-A043-B63082CBBE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2993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Please make a lightning-fast, mobile-first webapp that allows people to quickly stage H&amp;N malignancies with newest AJCC guidelines. The goal is for students to go through quick radio buttons/menu selects in as few actions as possible to arrive at staging.</a:t>
            </a:r>
          </a:p>
          <a:p>
            <a:r>
              <a:rPr lang="en-US" dirty="0"/>
              <a:t>There is a </a:t>
            </a:r>
            <a:r>
              <a:rPr lang="en-US" dirty="0" err="1"/>
              <a:t>powerpoint</a:t>
            </a:r>
            <a:r>
              <a:rPr lang="en-US" dirty="0"/>
              <a:t> in the project directory. Use images in these slides as the basis for TNM staging and prognostic staging (e.g. Stage I/II/III/IV).</a:t>
            </a:r>
          </a:p>
          <a:p>
            <a:r>
              <a:rPr lang="en-US" b="1" u="sng" dirty="0"/>
              <a:t>Double check everything</a:t>
            </a:r>
            <a:r>
              <a:rPr lang="en-US" dirty="0"/>
              <a:t>. Citations are necessary. Students need to be able to trust this. I included URLs for the image sources, but please double-check it with a 2</a:t>
            </a:r>
            <a:r>
              <a:rPr lang="en-US" baseline="30000" dirty="0"/>
              <a:t>nd</a:t>
            </a:r>
            <a:r>
              <a:rPr lang="en-US" dirty="0"/>
              <a:t> peer-reviewed or reputable source—preferably the AJCC staging itself. Make sure everything is up-to-date.</a:t>
            </a:r>
          </a:p>
          <a:p>
            <a:r>
              <a:rPr lang="en-US" dirty="0"/>
              <a:t>Every staged cancer should show an image of the survival curve for that prognostic stage at the final stage, with a reference to the paper for that staging.</a:t>
            </a:r>
          </a:p>
          <a:p>
            <a:r>
              <a:rPr lang="en-US" dirty="0"/>
              <a:t>Make sure that </a:t>
            </a:r>
            <a:r>
              <a:rPr lang="en-US" dirty="0" err="1"/>
              <a:t>cTNM</a:t>
            </a:r>
            <a:r>
              <a:rPr lang="en-US" dirty="0"/>
              <a:t> staging and </a:t>
            </a:r>
            <a:r>
              <a:rPr lang="en-US" dirty="0" err="1"/>
              <a:t>pTNM</a:t>
            </a:r>
            <a:r>
              <a:rPr lang="en-US" dirty="0"/>
              <a:t> staging align with prognostic staging if they are different for anything.</a:t>
            </a:r>
          </a:p>
          <a:p>
            <a:r>
              <a:rPr lang="en-US" dirty="0"/>
              <a:t>If you have questions about the plan or something I’ve provided seems wrong/inconsistent, please ask.</a:t>
            </a:r>
          </a:p>
          <a:p>
            <a:r>
              <a:rPr lang="en-US" dirty="0"/>
              <a:t>This is for educational purposes only—not for clinical practice.</a:t>
            </a:r>
          </a:p>
          <a:p>
            <a:r>
              <a:rPr lang="en-US" dirty="0"/>
              <a:t>Please suggest a plan for hosting this app online. Minimize cost. </a:t>
            </a:r>
            <a:r>
              <a:rPr lang="en-US"/>
              <a:t>Assume 20 </a:t>
            </a:r>
            <a:r>
              <a:rPr lang="en-US" dirty="0"/>
              <a:t>users/day.</a:t>
            </a:r>
          </a:p>
        </p:txBody>
      </p:sp>
    </p:spTree>
    <p:extLst>
      <p:ext uri="{BB962C8B-B14F-4D97-AF65-F5344CB8AC3E}">
        <p14:creationId xmlns:p14="http://schemas.microsoft.com/office/powerpoint/2010/main" val="3873881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58B086C-EDC1-FA97-AEE2-5F526507EA32}"/>
              </a:ext>
            </a:extLst>
          </p:cNvPr>
          <p:cNvSpPr txBox="1"/>
          <p:nvPr/>
        </p:nvSpPr>
        <p:spPr>
          <a:xfrm>
            <a:off x="1123721" y="5939924"/>
            <a:ext cx="83755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www.facs.org</a:t>
            </a:r>
            <a:r>
              <a:rPr lang="en-US" dirty="0"/>
              <a:t>/media/c5ik5tkr/ajcc-current-staging-system-2026.pdf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889E8A1-EC0C-0C2F-A1AE-C2ED84C74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753" y="548744"/>
            <a:ext cx="8997062" cy="5047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2786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FAB4D9D-B0A9-A719-C26E-121B45A243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1944" y="940564"/>
            <a:ext cx="4988111" cy="51476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DBCF2E3-0B69-2C05-9173-D0A1EDC1A279}"/>
              </a:ext>
            </a:extLst>
          </p:cNvPr>
          <p:cNvSpPr txBox="1"/>
          <p:nvPr/>
        </p:nvSpPr>
        <p:spPr>
          <a:xfrm>
            <a:off x="154237" y="104634"/>
            <a:ext cx="656961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Oropharyngeal p16 POSITIVE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1DE37B-523D-0D7E-6FD2-E9481FE034FF}"/>
              </a:ext>
            </a:extLst>
          </p:cNvPr>
          <p:cNvSpPr txBox="1"/>
          <p:nvPr/>
        </p:nvSpPr>
        <p:spPr>
          <a:xfrm>
            <a:off x="3298987" y="6216240"/>
            <a:ext cx="68497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link.springer.com</a:t>
            </a:r>
            <a:r>
              <a:rPr lang="en-US" dirty="0"/>
              <a:t>/article/10.1245/s10434-026-19496-2</a:t>
            </a:r>
          </a:p>
        </p:txBody>
      </p:sp>
    </p:spTree>
    <p:extLst>
      <p:ext uri="{BB962C8B-B14F-4D97-AF65-F5344CB8AC3E}">
        <p14:creationId xmlns:p14="http://schemas.microsoft.com/office/powerpoint/2010/main" val="63311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DFFCF-0CC7-5B1D-8ACA-DB35AD3BF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85C8D1C-3F5E-EC0A-7317-7256C72C994D}"/>
              </a:ext>
            </a:extLst>
          </p:cNvPr>
          <p:cNvSpPr txBox="1"/>
          <p:nvPr/>
        </p:nvSpPr>
        <p:spPr>
          <a:xfrm>
            <a:off x="154237" y="104634"/>
            <a:ext cx="67529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Oropharyngeal p16 NEGATIVE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4EF3A3D-8FAF-CEF1-BDD1-E9BB20A8A1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898" y="848298"/>
            <a:ext cx="4560053" cy="578613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B302593-3168-8571-4BFD-F8EC8828C29B}"/>
              </a:ext>
            </a:extLst>
          </p:cNvPr>
          <p:cNvSpPr txBox="1"/>
          <p:nvPr/>
        </p:nvSpPr>
        <p:spPr>
          <a:xfrm>
            <a:off x="0" y="6581001"/>
            <a:ext cx="1164482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https://</a:t>
            </a:r>
            <a:r>
              <a:rPr lang="en-US" sz="1200" dirty="0" err="1"/>
              <a:t>www.cancernetwork.com</a:t>
            </a:r>
            <a:r>
              <a:rPr lang="en-US" sz="1200" dirty="0"/>
              <a:t>/view/emergence-novel-staging-system-oropharyngeal-squamous-cell-carcinoma-based-hpv-status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5EF2E4F-87A4-2D9B-762D-963B94C7BA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4302" y="2179432"/>
            <a:ext cx="2907800" cy="2499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733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A916D-62E8-E3B8-89A7-ADC7BACD1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4C9C5F4-88FA-76A8-0968-3631F0AF1651}"/>
              </a:ext>
            </a:extLst>
          </p:cNvPr>
          <p:cNvSpPr txBox="1"/>
          <p:nvPr/>
        </p:nvSpPr>
        <p:spPr>
          <a:xfrm>
            <a:off x="154237" y="104634"/>
            <a:ext cx="251588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Oral cavity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2D80A4-C714-A67C-2D7F-AC2974C718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37" y="1572790"/>
            <a:ext cx="4462043" cy="37124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031440D-39C6-F773-1584-EDD94924B2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1533" y="1817705"/>
            <a:ext cx="4462044" cy="322258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164953B-7F52-986F-98ED-EE835E00A7D6}"/>
              </a:ext>
            </a:extLst>
          </p:cNvPr>
          <p:cNvSpPr txBox="1"/>
          <p:nvPr/>
        </p:nvSpPr>
        <p:spPr>
          <a:xfrm>
            <a:off x="9897836" y="3105834"/>
            <a:ext cx="14084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M0: no </a:t>
            </a:r>
            <a:r>
              <a:rPr lang="en-US" dirty="0" err="1"/>
              <a:t>mets</a:t>
            </a:r>
            <a:endParaRPr lang="en-US" dirty="0"/>
          </a:p>
          <a:p>
            <a:r>
              <a:rPr lang="en-US" dirty="0"/>
              <a:t>M1: </a:t>
            </a:r>
            <a:r>
              <a:rPr lang="en-US" dirty="0" err="1"/>
              <a:t>mets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8156DAA-4DB3-3EB1-8EEC-E6F75DFE3B55}"/>
              </a:ext>
            </a:extLst>
          </p:cNvPr>
          <p:cNvSpPr txBox="1"/>
          <p:nvPr/>
        </p:nvSpPr>
        <p:spPr>
          <a:xfrm>
            <a:off x="0" y="6488668"/>
            <a:ext cx="61308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pmc.ncbi.nlm.nih.gov</a:t>
            </a:r>
            <a:r>
              <a:rPr lang="en-US" dirty="0"/>
              <a:t>/articles/PMC12883927</a:t>
            </a:r>
          </a:p>
        </p:txBody>
      </p:sp>
    </p:spTree>
    <p:extLst>
      <p:ext uri="{BB962C8B-B14F-4D97-AF65-F5344CB8AC3E}">
        <p14:creationId xmlns:p14="http://schemas.microsoft.com/office/powerpoint/2010/main" val="27137239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59C3C-2E1A-C888-CA84-354280DBD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6C297D7-CD06-1F91-61C6-00DC272D97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37" y="663645"/>
            <a:ext cx="5675715" cy="596563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44BAF17-3B91-682A-9AE7-0C661186CE93}"/>
              </a:ext>
            </a:extLst>
          </p:cNvPr>
          <p:cNvSpPr txBox="1"/>
          <p:nvPr/>
        </p:nvSpPr>
        <p:spPr>
          <a:xfrm>
            <a:off x="154237" y="104634"/>
            <a:ext cx="164141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Larynx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800472-5675-F438-21BD-F64A03F6A3A9}"/>
              </a:ext>
            </a:extLst>
          </p:cNvPr>
          <p:cNvSpPr txBox="1"/>
          <p:nvPr/>
        </p:nvSpPr>
        <p:spPr>
          <a:xfrm>
            <a:off x="0" y="6480404"/>
            <a:ext cx="87666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dl.icdst.org</a:t>
            </a:r>
            <a:r>
              <a:rPr lang="en-US" dirty="0"/>
              <a:t>/pdfs/files3/c9ae57945f9300e9866af6cbbdc0ef86.pdf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18D0DA8-2B73-913F-E76C-1EC94BFC62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0445" y="663645"/>
            <a:ext cx="5692451" cy="509530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8F13B8B-3B8D-FBDD-AC96-43D1367A8E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7595" y="5758946"/>
            <a:ext cx="1923514" cy="1108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293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462EB-7167-89FB-4E6B-12916071E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02B9D5E-368B-F7C2-17CF-C65CEA0D547B}"/>
              </a:ext>
            </a:extLst>
          </p:cNvPr>
          <p:cNvSpPr txBox="1"/>
          <p:nvPr/>
        </p:nvSpPr>
        <p:spPr>
          <a:xfrm>
            <a:off x="154237" y="104634"/>
            <a:ext cx="324441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Salivary gland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C1B75D-288D-9F69-19CB-C6EC031A16E6}"/>
              </a:ext>
            </a:extLst>
          </p:cNvPr>
          <p:cNvSpPr txBox="1"/>
          <p:nvPr/>
        </p:nvSpPr>
        <p:spPr>
          <a:xfrm>
            <a:off x="0" y="5819392"/>
            <a:ext cx="50126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link.springer.com</a:t>
            </a:r>
            <a:r>
              <a:rPr lang="en-US" dirty="0"/>
              <a:t>/article/10.1245/s10434-026-19350-5/tables/1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A2B070-0116-912B-E336-AD8E06CC71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0" y="-8264"/>
            <a:ext cx="73152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04847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6DEC9-D76B-59D2-D21C-8D28E3F45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675AAD-1DA4-95BA-48AF-A74A8E0482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281" y="1964138"/>
            <a:ext cx="3910537" cy="21010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E8FFCD-F75D-2ADC-A1DF-66FFDE695880}"/>
              </a:ext>
            </a:extLst>
          </p:cNvPr>
          <p:cNvSpPr txBox="1"/>
          <p:nvPr/>
        </p:nvSpPr>
        <p:spPr>
          <a:xfrm>
            <a:off x="154237" y="104634"/>
            <a:ext cx="31163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Nasopharynx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7BC19ED-41FD-5AB7-D943-9CCA776595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812520"/>
            <a:ext cx="3902141" cy="412628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21ED2E1-3BFE-B84A-4789-EB99DD7F4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2140" y="812520"/>
            <a:ext cx="3902141" cy="397364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FCFB1A-69AA-92D0-2217-538D9977AE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4281" y="812520"/>
            <a:ext cx="3902141" cy="94406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9B9EF02-B02C-D7A4-F825-D45DCEF4B484}"/>
              </a:ext>
            </a:extLst>
          </p:cNvPr>
          <p:cNvSpPr txBox="1"/>
          <p:nvPr/>
        </p:nvSpPr>
        <p:spPr>
          <a:xfrm>
            <a:off x="0" y="6488668"/>
            <a:ext cx="7070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jamanetwork.com</a:t>
            </a:r>
            <a:r>
              <a:rPr lang="en-US" dirty="0"/>
              <a:t>/journals/</a:t>
            </a:r>
            <a:r>
              <a:rPr lang="en-US" dirty="0" err="1"/>
              <a:t>jamaoncology</a:t>
            </a:r>
            <a:r>
              <a:rPr lang="en-US" dirty="0"/>
              <a:t>/</a:t>
            </a:r>
            <a:r>
              <a:rPr lang="en-US" dirty="0" err="1"/>
              <a:t>fullarticle</a:t>
            </a:r>
            <a:r>
              <a:rPr lang="en-US" dirty="0"/>
              <a:t>/2824837</a:t>
            </a:r>
          </a:p>
        </p:txBody>
      </p:sp>
    </p:spTree>
    <p:extLst>
      <p:ext uri="{BB962C8B-B14F-4D97-AF65-F5344CB8AC3E}">
        <p14:creationId xmlns:p14="http://schemas.microsoft.com/office/powerpoint/2010/main" val="4677506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ED058-C4AC-82F2-BF5B-780CBDFF5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63D1C8A-F79D-AFF4-F076-A394596838F0}"/>
              </a:ext>
            </a:extLst>
          </p:cNvPr>
          <p:cNvSpPr txBox="1"/>
          <p:nvPr/>
        </p:nvSpPr>
        <p:spPr>
          <a:xfrm>
            <a:off x="154237" y="104634"/>
            <a:ext cx="339945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Thyroid (AJCC)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A9D575D-9255-6497-69C8-437470F9C84E}"/>
              </a:ext>
            </a:extLst>
          </p:cNvPr>
          <p:cNvSpPr txBox="1"/>
          <p:nvPr/>
        </p:nvSpPr>
        <p:spPr>
          <a:xfrm>
            <a:off x="0" y="5720354"/>
            <a:ext cx="635077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https://www.pathologyoutlines.com/topic/thyroidstaging.html</a:t>
            </a:r>
            <a:endParaRPr lang="en-US" dirty="0"/>
          </a:p>
          <a:p>
            <a:endParaRPr lang="en-US" dirty="0"/>
          </a:p>
          <a:p>
            <a:r>
              <a:rPr lang="en-US" dirty="0">
                <a:hlinkClick r:id="rId3"/>
              </a:rPr>
              <a:t>https://pmc.ncbi.nlm.nih.gov/articles/PMC5467103/</a:t>
            </a: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E43F28C-2569-313A-15EB-8B6D71CE56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12520"/>
            <a:ext cx="5529818" cy="357219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F444DA2-BE9F-7B8B-D0FF-BE9EADD963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580705"/>
            <a:ext cx="3542401" cy="352345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9EEC9BB-E6AC-231D-8C05-722E35D8EA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7228" y="4433458"/>
            <a:ext cx="5049982" cy="1748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964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81FC1-5B63-916E-99A8-DA5EB343F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02D7A47-FB90-84E3-87CC-22FFCA5CD8FE}"/>
              </a:ext>
            </a:extLst>
          </p:cNvPr>
          <p:cNvSpPr txBox="1"/>
          <p:nvPr/>
        </p:nvSpPr>
        <p:spPr>
          <a:xfrm>
            <a:off x="154237" y="104634"/>
            <a:ext cx="57374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Mucosal melanoma H&amp;N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4240DF-B8FA-8508-80C1-53393831AF3A}"/>
              </a:ext>
            </a:extLst>
          </p:cNvPr>
          <p:cNvSpPr txBox="1"/>
          <p:nvPr/>
        </p:nvSpPr>
        <p:spPr>
          <a:xfrm>
            <a:off x="0" y="5720354"/>
            <a:ext cx="93588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https://radiopaedia.org/articles/mucosal-melanoma-of-the-head-and-neck-staging?lang=us</a:t>
            </a:r>
            <a:endParaRPr lang="en-US" dirty="0"/>
          </a:p>
          <a:p>
            <a:r>
              <a:rPr lang="en-US" dirty="0">
                <a:hlinkClick r:id="rId3"/>
              </a:rPr>
              <a:t>https://www.pathologyoutlines.com/topic/oralcavitystagingmucosalmelanoma.html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A7F6306-8FEF-CC4E-A286-9B5412DCD5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237" y="1626591"/>
            <a:ext cx="4935837" cy="327969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574AE4D-19ED-1CF9-42AE-69D75D7608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555" y="1789154"/>
            <a:ext cx="2660650" cy="110119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204F800-EBC9-E14E-D365-DD09E6298F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555" y="3025672"/>
            <a:ext cx="4630215" cy="126041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004398D-DBF7-19F0-FE54-FC41AE6FD16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83786" y="1789154"/>
            <a:ext cx="1625927" cy="23991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082858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9F183-C6A7-D8AF-A475-F0E6D33D5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80C246C-472E-6281-68C3-5BFD585C3D79}"/>
              </a:ext>
            </a:extLst>
          </p:cNvPr>
          <p:cNvSpPr txBox="1"/>
          <p:nvPr/>
        </p:nvSpPr>
        <p:spPr>
          <a:xfrm>
            <a:off x="154237" y="104634"/>
            <a:ext cx="626889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Cutaneous carcinoma H&amp;N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C4A284-90AD-49CE-B582-C7BE8289EF90}"/>
              </a:ext>
            </a:extLst>
          </p:cNvPr>
          <p:cNvSpPr txBox="1"/>
          <p:nvPr/>
        </p:nvSpPr>
        <p:spPr>
          <a:xfrm>
            <a:off x="4646" y="6047914"/>
            <a:ext cx="97494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https://radiopaedia.org/articles/cutaneous-carcinoma-of-the-head-and-neck-staging?lang=us</a:t>
            </a:r>
            <a:endParaRPr lang="en-US" dirty="0"/>
          </a:p>
          <a:p>
            <a:r>
              <a:rPr lang="en-US" dirty="0">
                <a:hlinkClick r:id="rId3"/>
              </a:rPr>
              <a:t>https://www.pathologyoutlines.com/topic/skintumornonmelanocyticstagingskincarcinoma.html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606693-25A3-D7DD-8688-89B097D9C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237" y="1570201"/>
            <a:ext cx="4617516" cy="37175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1016760-3910-E9D0-6D39-A8FD62CA65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6050" y="812520"/>
            <a:ext cx="3802346" cy="227050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7D4CD44-503A-86E3-5AE9-8E24B41C42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26050" y="3148263"/>
            <a:ext cx="3989644" cy="253749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D09DA39-09D1-A2E1-3996-1FAE42F1CB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12250" y="1047672"/>
            <a:ext cx="3222353" cy="90009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8616C97-B11C-ADFA-9D98-794FFE8B288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3566" y="2482470"/>
            <a:ext cx="1640195" cy="320328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293519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446</Words>
  <Application>Microsoft Macintosh PowerPoint</Application>
  <PresentationFormat>Widescreen</PresentationFormat>
  <Paragraphs>34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instructions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Olmstead, Jack</dc:creator>
  <cp:lastModifiedBy>Olmstead, Jack</cp:lastModifiedBy>
  <cp:revision>22</cp:revision>
  <dcterms:created xsi:type="dcterms:W3CDTF">2026-08-06T14:36:56Z</dcterms:created>
  <dcterms:modified xsi:type="dcterms:W3CDTF">2026-08-09T19:45:10Z</dcterms:modified>
</cp:coreProperties>
</file>